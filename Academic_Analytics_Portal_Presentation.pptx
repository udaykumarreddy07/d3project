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Average Marks (%)</c:v>
                </c:pt>
              </c:strCache>
            </c:strRef>
          </c:tx>
          <c:spPr>
            <a:solidFill>
              <a:srgbClr val="4F46E5">
                <a:alpha val="90000"/>
              </a:srgbClr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CSE</c:v>
                  </c:pt>
                  <c:pt idx="1">
                    <c:v>ECE</c:v>
                  </c:pt>
                  <c:pt idx="2">
                    <c:v>EEE</c:v>
                  </c:pt>
                  <c:pt idx="3">
                    <c:v>MECH</c:v>
                  </c:pt>
                  <c:pt idx="4">
                    <c:v>CIVIL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90.2</c:v>
                </c:pt>
                <c:pt idx="1">
                  <c:v>85.8</c:v>
                </c:pt>
                <c:pt idx="2">
                  <c:v>79.4</c:v>
                </c:pt>
                <c:pt idx="3">
                  <c:v>69.8</c:v>
                </c:pt>
                <c:pt idx="4">
                  <c:v>73.2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Pass Rate (%)</c:v>
                </c:pt>
              </c:strCache>
            </c:strRef>
          </c:tx>
          <c:spPr>
            <a:solidFill>
              <a:srgbClr val="0EA5E9">
                <a:alpha val="90000"/>
              </a:srgbClr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CSE</c:v>
                  </c:pt>
                  <c:pt idx="1">
                    <c:v>ECE</c:v>
                  </c:pt>
                  <c:pt idx="2">
                    <c:v>EEE</c:v>
                  </c:pt>
                  <c:pt idx="3">
                    <c:v>MECH</c:v>
                  </c:pt>
                  <c:pt idx="4">
                    <c:v>CIVIL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80</c:v>
                </c:pt>
                <c:pt idx="4">
                  <c:v>75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BD5E1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BD5E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E293B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CBD5E1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731520"/>
            <a:ext cx="10725912" cy="5394960"/>
          </a:xfrm>
          <a:prstGeom prst="roundRect">
            <a:avLst>
              <a:gd name="adj" fmla="val 3390"/>
            </a:avLst>
          </a:prstGeom>
          <a:solidFill>
            <a:srgbClr val="131D31"/>
          </a:solidFill>
          <a:ln w="19050">
            <a:solidFill>
              <a:srgbClr val="33415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88720" y="1188720"/>
            <a:ext cx="3474720" cy="365760"/>
          </a:xfrm>
          <a:prstGeom prst="roundRect">
            <a:avLst>
              <a:gd name="adj" fmla="val 25000"/>
            </a:avLst>
          </a:prstGeom>
          <a:solidFill>
            <a:srgbClr val="1E1B4B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1887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5B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🏛️  BHARATH INSTITUTE (AUTONOMOUS)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88720" y="1737360"/>
            <a:ext cx="9601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Academic Analytics &amp;</a:t>
            </a:r>
            <a:endParaRPr lang="en-US" sz="34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Marksheet Portal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1188720" y="320040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Modular Web Architecture • D3.js Visualizations • UGC 10-Point Scale Grading Engine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88720" y="374904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production-grade, highly organized multi-tier academic evaluation platform featuring institutional analytics, dual-role RBAC (Faculty &amp; Student), real-time cohort simulators, and high-fidelity printable marksheet generation.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188720" y="4846320"/>
            <a:ext cx="2286000" cy="548640"/>
          </a:xfrm>
          <a:prstGeom prst="roundRect">
            <a:avLst>
              <a:gd name="adj" fmla="val 16667"/>
            </a:avLst>
          </a:prstGeom>
          <a:solidFill>
            <a:srgbClr val="312E81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0" y="484632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7D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📁 Modular Folders (css/ js/ data/)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657600" y="4846320"/>
            <a:ext cx="2286000" cy="548640"/>
          </a:xfrm>
          <a:prstGeom prst="roundRect">
            <a:avLst>
              <a:gd name="adj" fmla="val 16667"/>
            </a:avLst>
          </a:prstGeom>
          <a:solidFill>
            <a:srgbClr val="07598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0" y="484632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AE6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Live D3.js Charts &amp; Bar Graphs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126480" y="4846320"/>
            <a:ext cx="2286000" cy="548640"/>
          </a:xfrm>
          <a:prstGeom prst="roundRect">
            <a:avLst>
              <a:gd name="adj" fmla="val 16667"/>
            </a:avLst>
          </a:prstGeom>
          <a:solidFill>
            <a:srgbClr val="581C8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26480" y="484632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9D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🎓 UGC 10-Point CGPA Calculator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8595360" y="4846320"/>
            <a:ext cx="2286000" cy="548640"/>
          </a:xfrm>
          <a:prstGeom prst="roundRect">
            <a:avLst>
              <a:gd name="adj" fmla="val 16667"/>
            </a:avLst>
          </a:prstGeom>
          <a:solidFill>
            <a:srgbClr val="064E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95360" y="484632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7F3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🔐 Dual-Role Session RBAC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Overview &amp; Key Objectives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0725912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Academic Analytics Portal | Bharath Institute (Autonomous)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601200" y="64008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 of 10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31520" y="1463040"/>
            <a:ext cx="5212080" cy="2011680"/>
          </a:xfrm>
          <a:prstGeom prst="roundRect">
            <a:avLst>
              <a:gd name="adj" fmla="val 6818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463040"/>
            <a:ext cx="5212080" cy="73152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9" name="Text 7"/>
          <p:cNvSpPr/>
          <p:nvPr/>
        </p:nvSpPr>
        <p:spPr>
          <a:xfrm>
            <a:off x="1005840" y="169164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📁  1. Modular Architecture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05840" y="2148840"/>
            <a:ext cx="46634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Refactored single-file monolithic codebase into dedicated language subfolders (css/, js/, data/) for maximum maintainability, clean separation of concerns, and team scalability.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217920" y="1463040"/>
            <a:ext cx="5212080" cy="2011680"/>
          </a:xfrm>
          <a:prstGeom prst="roundRect">
            <a:avLst>
              <a:gd name="adj" fmla="val 6818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0" y="1463040"/>
            <a:ext cx="5212080" cy="73152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13" name="Text 11"/>
          <p:cNvSpPr/>
          <p:nvPr/>
        </p:nvSpPr>
        <p:spPr>
          <a:xfrm>
            <a:off x="6492240" y="169164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 2. Institutional D3.js Analytics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492240" y="2148840"/>
            <a:ext cx="46634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Interactive visual cohort analytics with department performance bar charts, pass/fail donuts, subject correlation scatter plots, and student radar gauges.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31520" y="3749040"/>
            <a:ext cx="5212080" cy="2011680"/>
          </a:xfrm>
          <a:prstGeom prst="roundRect">
            <a:avLst>
              <a:gd name="adj" fmla="val 6818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3749040"/>
            <a:ext cx="5212080" cy="73152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7" name="Text 15"/>
          <p:cNvSpPr/>
          <p:nvPr/>
        </p:nvSpPr>
        <p:spPr>
          <a:xfrm>
            <a:off x="1005840" y="397764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🎓  3. UGC 10-Point Marksheet Engine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05840" y="4434840"/>
            <a:ext cx="46634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evaluation according to standard Indian UGC / Autonomous University guidelines: Letter Grade (O to F), Grade Points (10 to 0), SGPA/CGPA, and pass criteria.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17920" y="3749040"/>
            <a:ext cx="5212080" cy="2011680"/>
          </a:xfrm>
          <a:prstGeom prst="roundRect">
            <a:avLst>
              <a:gd name="adj" fmla="val 6818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0" y="3749040"/>
            <a:ext cx="5212080" cy="7315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1" name="Text 19"/>
          <p:cNvSpPr/>
          <p:nvPr/>
        </p:nvSpPr>
        <p:spPr>
          <a:xfrm>
            <a:off x="6492240" y="397764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🔐  4. Dual-Role RBAC &amp; Security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492240" y="4434840"/>
            <a:ext cx="46634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Role-Based Access Control separating Faculty Administration (full CRUD, live simulator, CSV export) and Student Self-Service (personalized scorecard &amp; marksheets).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ARCHITECTURE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Layered System Architecture &amp; Directory Tree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0725912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Academic Analytics Portal | Bharath Institute (Autonomous)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601200" y="64008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 of 10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31520" y="1463040"/>
            <a:ext cx="5120640" cy="4663440"/>
          </a:xfrm>
          <a:prstGeom prst="roundRect">
            <a:avLst>
              <a:gd name="adj" fmla="val 2941"/>
            </a:avLst>
          </a:prstGeom>
          <a:solidFill>
            <a:srgbClr val="0C1322"/>
          </a:solidFill>
          <a:ln w="19050">
            <a:solidFill>
              <a:srgbClr val="4F46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16459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📁 Project Directory Organization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2011680"/>
            <a:ext cx="4754880" cy="3931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D3project/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index.html          (Main HTML Entry Point)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README.md           (Documentation Guide)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build.js            (Build &amp; Sync Engine)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css/                (🎨 Stylesheets Layer)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styles.css      (Global tokens &amp; UI)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auth.css        (Login Gateway &amp; Aurora)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dashboard.css   (KPIs &amp; Data Table)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charts.css      (D3 SVG Styling)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marksheet.css   (Progress Card &amp; Print)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js/                 (⚡ Application Logic Layer)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data.js         (Storage &amp; Cohort Data)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auth.js         (RBAC &amp; Demo Logins)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marksheet.js    (UGC GPA Calculator)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ui.js           (KPIs, Tables &amp; Filters)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charts.js       (D3 Data Visualizers)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app.js          (Bootstrap &amp; Event Hub)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data/               (📊 Data Layer)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└── students.json   (22-Student JSON Dataset)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6126480" y="1463040"/>
            <a:ext cx="5303520" cy="13716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5240">
            <a:solidFill>
              <a:srgbClr val="0EA5E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160020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🎨 Presentation Layer (css/)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0" y="1965960"/>
            <a:ext cx="4754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Modular CSS architecture organized by component responsibility: global design tokens, aurora auth overlays, responsive data grids, SVG chart styling, and print formatting.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126480" y="3017520"/>
            <a:ext cx="5303520" cy="13716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5240">
            <a:solidFill>
              <a:srgbClr val="4F46E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0" y="315468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⚡ Business Logic Layer (js/)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0" y="3520440"/>
            <a:ext cx="4754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Zero-framework vanilla ES6+ modules. Separates data stores, authentication flows, academic calculation engines, D3 visual rendering, and UI DOM manipulation.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126480" y="4572000"/>
            <a:ext cx="5303520" cy="13716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5240">
            <a:solidFill>
              <a:srgbClr val="10B98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Persistent Data Layer (data/)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0" y="5074920"/>
            <a:ext cx="4754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Portable JSON cohort data storage coupled with an intelligent multi-tiered storage wrapper (LocalStorage -&gt; SessionStorage -&gt; In-Memory Fallback).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&amp; ENGINEERING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Technology Stack &amp; Modern Design System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0725912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Academic Analytics Portal | Bharath Institute (Autonomous)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601200" y="64008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4 of 10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31520" y="1463040"/>
            <a:ext cx="5120640" cy="4663440"/>
          </a:xfrm>
          <a:prstGeom prst="roundRect">
            <a:avLst>
              <a:gd name="adj" fmla="val 2941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169164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🛠️ Core Technology Stack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05840" y="21031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Vanilla JavaScript (ES6+)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188720" y="2377440"/>
            <a:ext cx="4389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external dependencies for business logic. Pure performance, instant startup, and modular maintenance.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005840" y="30632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D3.js v7 (Data-Driven Documents)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88720" y="3337560"/>
            <a:ext cx="4389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 dynamic SVG data binding, responsive scale linear/band projections, animated transitions, and hover tooltips.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005840" y="40233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Semantic HTML5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188720" y="4297680"/>
            <a:ext cx="4389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Accessible document structure with modal overlays, SVG graphics, and responsive data containers.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005840" y="49834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Advanced CSS3 &amp; Glassmorphism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188720" y="5257800"/>
            <a:ext cx="4389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Aurora light animations, backdrop-filter blurs, radial gradients, flex/grid layouts, and dedicated print stylesheet.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26480" y="1463040"/>
            <a:ext cx="5303520" cy="4663440"/>
          </a:xfrm>
          <a:prstGeom prst="roundRect">
            <a:avLst>
              <a:gd name="adj" fmla="val 2941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0" y="169164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🎨 Design System Tokens &amp; Typography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400800" y="219456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4F46E5"/>
          </a:solidFill>
          <a:ln w="10160">
            <a:solidFill>
              <a:srgbClr val="F8FAF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903720" y="21488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Indigo</a:t>
            </a:r>
            <a:endParaRPr lang="en-US" sz="9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#4F46E5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8869680" y="219456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EA5E9"/>
          </a:solidFill>
          <a:ln w="10160">
            <a:solidFill>
              <a:srgbClr val="F8FAF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372600" y="21488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Sky Blue Secondary</a:t>
            </a:r>
            <a:endParaRPr lang="en-US" sz="9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#0EA5E9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400800" y="28346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8B5CF6"/>
          </a:solidFill>
          <a:ln w="10160">
            <a:solidFill>
              <a:srgbClr val="F8FA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903720" y="2788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Violet Accent</a:t>
            </a:r>
            <a:endParaRPr lang="en-US" sz="9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#8B5CF6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869680" y="28346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10B981"/>
          </a:solidFill>
          <a:ln w="10160">
            <a:solidFill>
              <a:srgbClr val="F8FAF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372600" y="2788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Emerald Success</a:t>
            </a:r>
            <a:endParaRPr lang="en-US" sz="9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#10B981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400800" y="347472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F59E0B"/>
          </a:solidFill>
          <a:ln w="10160">
            <a:solidFill>
              <a:srgbClr val="F8FAF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903720" y="34290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Amber Warning</a:t>
            </a:r>
            <a:endParaRPr lang="en-US" sz="9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#F59E0B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8869680" y="347472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90D16"/>
          </a:solidFill>
          <a:ln w="10160">
            <a:solidFill>
              <a:srgbClr val="F8FAF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372600" y="34290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Obsidian Dark Base</a:t>
            </a:r>
            <a:endParaRPr lang="en-US" sz="9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#090D16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400800" y="4389120"/>
            <a:ext cx="4754880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0" y="457200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🔤 Google Fonts Typography Hierarchy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400800" y="4937760"/>
            <a:ext cx="4754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Headings &amp; Numbers: Outfit &amp; Space Grotesk (High legibility)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Body &amp; Data Tables: Plus Jakarta Sans (Clean modern sans-serif)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Institutional Seals &amp; Certificates: Cinzel (Classical serif)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COHORT ANALYTICS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Department Performance Comparison &amp; D3 Pipeline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0725912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Academic Analytics Portal | Bharath Institute (Autonomous)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601200" y="64008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5 of 10</a:t>
            </a:r>
            <a:endParaRPr lang="en-US" sz="9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31520" y="1463040"/>
          <a:ext cx="6217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7223760" y="1463040"/>
            <a:ext cx="4206240" cy="4572000"/>
          </a:xfrm>
          <a:prstGeom prst="roundRect">
            <a:avLst>
              <a:gd name="adj" fmla="val 3261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0" y="16916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D3.js Bar Chart Pipeline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498080" y="21488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Data Aggregation (`d3.rollup`)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7498080" y="237744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Rolls up raw student arrays by department into mean subject scores and pass percentage tallies.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7498080" y="30632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Band &amp; Linear Scaling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7498080" y="329184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`d3.scaleBand()` partitions X-axis categories with padding; `d3.scaleLinear()` maps domain [0, 100] to SVG pixel heights.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7498080" y="39776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SVG Gradient Injection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498080" y="420624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Dynamically attaches linear gradients (`#barGradCSE`, `#barGradECE`) for sleek illuminated bar visuals.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7498080" y="48920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Dynamic Transitions &amp; Tooltips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498080" y="512064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Bars animate from height 0 using `.transition().duration(800)`; floating mouse tooltips reveal precise department metrics.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&amp; ACCESS CONTROL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Dual-Role Authentication Gateway &amp; RBAC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0725912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Academic Analytics Portal | Bharath Institute (Autonomous)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601200" y="64008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6 of 10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31520" y="1463040"/>
            <a:ext cx="5212080" cy="4663440"/>
          </a:xfrm>
          <a:prstGeom prst="roundRect">
            <a:avLst>
              <a:gd name="adj" fmla="val 2941"/>
            </a:avLst>
          </a:prstGeom>
          <a:solidFill>
            <a:srgbClr val="1E293B"/>
          </a:solidFill>
          <a:ln w="15240">
            <a:solidFill>
              <a:srgbClr val="4F46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169164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👥 Role-Based Access Control (RBAC)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1005840" y="2103120"/>
            <a:ext cx="4663440" cy="1737360"/>
          </a:xfrm>
          <a:prstGeom prst="roundRect">
            <a:avLst>
              <a:gd name="adj" fmla="val 5263"/>
            </a:avLst>
          </a:prstGeom>
          <a:solidFill>
            <a:srgbClr val="172554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0" y="224028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3C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👨‍🏫 FACULTY / ADMIN ROLE (`admin`)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88720" y="2560320"/>
            <a:ext cx="42976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Complete Student Record CRUD (Add, Edit, Delete)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Live Cohort Performance Simulator &amp; Stress Testing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Batch Official Marksheet Viewer &amp; CSV Report Export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Full Cohort Analytics across all 5 Engineering Departments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005840" y="4023360"/>
            <a:ext cx="4663440" cy="1737360"/>
          </a:xfrm>
          <a:prstGeom prst="roundRect">
            <a:avLst>
              <a:gd name="adj" fmla="val 5263"/>
            </a:avLst>
          </a:prstGeom>
          <a:solidFill>
            <a:srgbClr val="3B0764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88720" y="416052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8B4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🎓 STUDENT ROLE (`sneha`, `arun`)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188720" y="4480560"/>
            <a:ext cx="42976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Personalized Academic Welcome Banner &amp; Subject Breakdown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Immediate UGC Progress Card &amp; Official Marksheet Generation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Individual Subject Radar &amp; Attendance Gauge Visualizations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Restricted Access: Hidden Faculty Management &amp; CRUD Controls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217920" y="1463040"/>
            <a:ext cx="5212080" cy="4663440"/>
          </a:xfrm>
          <a:prstGeom prst="roundRect">
            <a:avLst>
              <a:gd name="adj" fmla="val 2941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169164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🔐 Security &amp; Session Layer (`auth.js`)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492240" y="2103120"/>
            <a:ext cx="4663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Aurora Wave Overlay (`auth.css`)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675120" y="2331720"/>
            <a:ext cx="4389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Full-screen luminous animated background, glowing particles, grid sweep animations, and password reveal toggle.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492240" y="3063240"/>
            <a:ext cx="4663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Three-Tier Storage Persistence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675120" y="3291840"/>
            <a:ext cx="4389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`safeSetItem()` / `safeGetItem()` engine seamlessly cascades from LocalStorage (Remember Me) -&gt; SessionStorage -&gt; In-Memory Fallback.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492240" y="4023360"/>
            <a:ext cx="4663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Instant Demo Accounts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675120" y="4251960"/>
            <a:ext cx="4389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Pre-seeded fast-login tokens for instant evaluator testing without manual password typing.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492240" y="4983480"/>
            <a:ext cx="4663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Header Role Switcher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675120" y="5212080"/>
            <a:ext cx="4389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Seamless live role switching mechanism allowing administrators to preview the exact UI as seen by any student.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GRADING &amp; EVALUATION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UGC 10-Point Academic Grading &amp; Marksheet Engine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0725912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Academic Analytics Portal | Bharath Institute (Autonomous)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601200" y="64008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7 of 10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463040"/>
          <a:ext cx="6217920" cy="4389120"/>
        </p:xfrm>
        <a:graphic>
          <a:graphicData uri="http://schemas.openxmlformats.org/drawingml/2006/table">
            <a:tbl>
              <a:tblPr/>
              <a:tblGrid>
                <a:gridCol w="1097280"/>
                <a:gridCol w="731520"/>
                <a:gridCol w="731520"/>
                <a:gridCol w="1645920"/>
                <a:gridCol w="2011680"/>
              </a:tblGrid>
              <a:tr h="487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Score Range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Grade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Points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Description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Academic Status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8FAFC"/>
                          </a:solidFill>
                        </a:rPr>
                        <a:t>90 - 100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0B981"/>
                          </a:solidFill>
                        </a:rPr>
                        <a:t>O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8FAFC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8FAFC"/>
                          </a:solidFill>
                        </a:rPr>
                        <a:t>Outstanding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8FAFC"/>
                          </a:solidFill>
                        </a:rPr>
                        <a:t>Passed (First Class Dist.)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8FAFC"/>
                          </a:solidFill>
                        </a:rPr>
                        <a:t>80 - 89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0B981"/>
                          </a:solidFill>
                        </a:rPr>
                        <a:t>A+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8FAFC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8FAFC"/>
                          </a:solidFill>
                        </a:rPr>
                        <a:t>Excellent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8FAFC"/>
                          </a:solidFill>
                        </a:rPr>
                        <a:t>Passed (First Class)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8FAFC"/>
                          </a:solidFill>
                        </a:rPr>
                        <a:t>70 - 79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EA5E9"/>
                          </a:solidFill>
                        </a:rPr>
                        <a:t>A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8FAFC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8FAFC"/>
                          </a:solidFill>
                        </a:rPr>
                        <a:t>Very Good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8FAFC"/>
                          </a:solidFill>
                        </a:rPr>
                        <a:t>Passed (First Class)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8FAFC"/>
                          </a:solidFill>
                        </a:rPr>
                        <a:t>60 - 69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EA5E9"/>
                          </a:solidFill>
                        </a:rPr>
                        <a:t>B+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8FAFC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8FAFC"/>
                          </a:solidFill>
                        </a:rPr>
                        <a:t>Good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8FAFC"/>
                          </a:solidFill>
                        </a:rPr>
                        <a:t>Passed (Second Class)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8FAFC"/>
                          </a:solidFill>
                        </a:rPr>
                        <a:t>50 - 59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59E0B"/>
                          </a:solidFill>
                        </a:rPr>
                        <a:t>B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8FAFC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8FAFC"/>
                          </a:solidFill>
                        </a:rPr>
                        <a:t>Above Average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8FAFC"/>
                          </a:solidFill>
                        </a:rPr>
                        <a:t>Passed (Second Class)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8FAFC"/>
                          </a:solidFill>
                        </a:rPr>
                        <a:t>40 - 49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59E0B"/>
                          </a:solidFill>
                        </a:rPr>
                        <a:t>C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8FAFC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8FAFC"/>
                          </a:solidFill>
                        </a:rPr>
                        <a:t>Average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8FAFC"/>
                          </a:solidFill>
                        </a:rPr>
                        <a:t>Passed (Pass Division)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8FAFC"/>
                          </a:solidFill>
                        </a:rPr>
                        <a:t>35 - 39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EAB308"/>
                          </a:solidFill>
                        </a:rPr>
                        <a:t>P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8FAFC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8FAFC"/>
                          </a:solidFill>
                        </a:rPr>
                        <a:t>Pass Threshold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8FAFC"/>
                          </a:solidFill>
                        </a:rPr>
                        <a:t>Passed (Pass Division)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8FAFC"/>
                          </a:solidFill>
                        </a:rPr>
                        <a:t>0 - 34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EF4444"/>
                          </a:solidFill>
                        </a:rPr>
                        <a:t>F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8FAFC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8FAFC"/>
                          </a:solidFill>
                        </a:rPr>
                        <a:t>Fail / Re-appear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EF4444"/>
                          </a:solidFill>
                        </a:rPr>
                        <a:t>FAILED (Backlog)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7223760" y="1463040"/>
            <a:ext cx="4206240" cy="4389120"/>
          </a:xfrm>
          <a:prstGeom prst="roundRect">
            <a:avLst>
              <a:gd name="adj" fmla="val 3261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0" y="16916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📜 Official Marksheet Modal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498080" y="21031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Autonomous College Header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7498080" y="233172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Institutional seal, serial numbers, examination month/year, and student demographic details.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7498080" y="30175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Subject-Wise Breakdown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7498080" y="324612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Evaluates Maths, Science, English, Programming with Max Marks (100), Min Pass Marks (35), Obtained Marks, and UGC Letter Grades.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7498080" y="39319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Formula: CGPA &amp; SGPA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498080" y="416052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Calculates overall grade point average using UGC formula: SGPA = Σ(Credits × Grade Points) / Total Credits.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7498080" y="48463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High-Fidelity `@media print`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498080" y="507492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print layout stripping navigation bars, applying A4 dimensions, high-contrast borders, and signatures area.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VISUALIZATIONS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Interactive D3.js Visualization Suite (charts.js)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0725912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Academic Analytics Portal | Bharath Institute (Autonomous)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601200" y="64008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8 of 10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31520" y="1463040"/>
            <a:ext cx="5212080" cy="2011680"/>
          </a:xfrm>
          <a:prstGeom prst="roundRect">
            <a:avLst>
              <a:gd name="adj" fmla="val 6818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463040"/>
            <a:ext cx="5212080" cy="73152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9" name="Text 7"/>
          <p:cNvSpPr/>
          <p:nvPr/>
        </p:nvSpPr>
        <p:spPr>
          <a:xfrm>
            <a:off x="1005840" y="164592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Department Average Bar Chart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05840" y="1965960"/>
            <a:ext cx="4663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Type: Bar / Column Chart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005840" y="2240280"/>
            <a:ext cx="46634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Visualizes mean aggregate scores across all 5 engineering streams with animated bar rise, color coding, and department comparison benchmarks.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17920" y="1463040"/>
            <a:ext cx="5212080" cy="2011680"/>
          </a:xfrm>
          <a:prstGeom prst="roundRect">
            <a:avLst>
              <a:gd name="adj" fmla="val 6818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17920" y="1463040"/>
            <a:ext cx="5212080" cy="7315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6492240" y="164592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Pass vs Fail Cohort Donut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92240" y="1965960"/>
            <a:ext cx="4663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Type: Donut Arc Chart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492240" y="2240280"/>
            <a:ext cx="46634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percentage breakdown of qualifying students vs backlogs with hover slice expansion, tooltip percentages, and center ratio readout.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31520" y="3749040"/>
            <a:ext cx="5212080" cy="2011680"/>
          </a:xfrm>
          <a:prstGeom prst="roundRect">
            <a:avLst>
              <a:gd name="adj" fmla="val 6818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1520" y="3749040"/>
            <a:ext cx="5212080" cy="73152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19" name="Text 17"/>
          <p:cNvSpPr/>
          <p:nvPr/>
        </p:nvSpPr>
        <p:spPr>
          <a:xfrm>
            <a:off x="1005840" y="393192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Subject Correlation Scatter Plot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005840" y="4251960"/>
            <a:ext cx="4663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Type: Scatter / Bubble Plot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005840" y="4526280"/>
            <a:ext cx="46634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Plots Mathematics vs Programming scores to reveal multi-disciplinary aptitude correlations with department-colored student nodes.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217920" y="3749040"/>
            <a:ext cx="5212080" cy="2011680"/>
          </a:xfrm>
          <a:prstGeom prst="roundRect">
            <a:avLst>
              <a:gd name="adj" fmla="val 6818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17920" y="3749040"/>
            <a:ext cx="5212080" cy="73152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4" name="Text 22"/>
          <p:cNvSpPr/>
          <p:nvPr/>
        </p:nvSpPr>
        <p:spPr>
          <a:xfrm>
            <a:off x="6492240" y="393192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Student Radar &amp; Gauge Dial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92240" y="4251960"/>
            <a:ext cx="4663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Type: Radar / Radial Gauge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492240" y="4526280"/>
            <a:ext cx="46634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Personalized 4-axis subject proficiency polygon and semi-circular attendance needle gauge for individual student evaluation.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 ENGINE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Dynamic UI Controllers, Filters &amp; Live Simulation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0725912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Academic Analytics Portal | Bharath Institute (Autonomous)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601200" y="64008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9 of 10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31520" y="1463040"/>
            <a:ext cx="10725912" cy="1005840"/>
          </a:xfrm>
          <a:prstGeom prst="roundRect">
            <a:avLst>
              <a:gd name="adj" fmla="val 10909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1600200"/>
            <a:ext cx="731520" cy="731520"/>
          </a:xfrm>
          <a:prstGeom prst="roundRect">
            <a:avLst>
              <a:gd name="adj" fmla="val 10000"/>
            </a:avLst>
          </a:prstGeom>
          <a:solidFill>
            <a:srgbClr val="131D31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69164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828800" y="1600200"/>
            <a:ext cx="9418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⚡ Dynamic KPI Summary Cards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828800" y="1874520"/>
            <a:ext cx="9418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Instant calculation and display of Total Active Students, Class Aggregate Average, Overall Pass Percentage, and Highest Cohort Scorer with animated counters.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31520" y="2606040"/>
            <a:ext cx="10725912" cy="1005840"/>
          </a:xfrm>
          <a:prstGeom prst="roundRect">
            <a:avLst>
              <a:gd name="adj" fmla="val 10909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2743200"/>
            <a:ext cx="731520" cy="731520"/>
          </a:xfrm>
          <a:prstGeom prst="roundRect">
            <a:avLst>
              <a:gd name="adj" fmla="val 10000"/>
            </a:avLst>
          </a:prstGeom>
          <a:solidFill>
            <a:srgbClr val="131D31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283464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828800" y="2743200"/>
            <a:ext cx="9418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🔍 Multi-Parameter Filter &amp; Search Pipeline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828800" y="3017520"/>
            <a:ext cx="9418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multi-criteria filtering by Department (CSE/ECE/EEE/MECH/CIVIL), Gender, Pass/Fail Status, Grade (O to F), combined with instant substring student search.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31520" y="3749040"/>
            <a:ext cx="10725912" cy="1005840"/>
          </a:xfrm>
          <a:prstGeom prst="roundRect">
            <a:avLst>
              <a:gd name="adj" fmla="val 10909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886200"/>
            <a:ext cx="731520" cy="731520"/>
          </a:xfrm>
          <a:prstGeom prst="roundRect">
            <a:avLst>
              <a:gd name="adj" fmla="val 10000"/>
            </a:avLst>
          </a:prstGeom>
          <a:solidFill>
            <a:srgbClr val="131D31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97764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828800" y="3886200"/>
            <a:ext cx="9418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🔄 Multi-Column Sortable Student Table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828800" y="4160520"/>
            <a:ext cx="9418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Clickable table headers enabling ascending/descending sorting by ID, Name, Department, Individual Subjects, Total, Average, Attendance, and Letter Grade.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31520" y="4892040"/>
            <a:ext cx="10725912" cy="1005840"/>
          </a:xfrm>
          <a:prstGeom prst="roundRect">
            <a:avLst>
              <a:gd name="adj" fmla="val 10909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14400" y="5029200"/>
            <a:ext cx="731520" cy="731520"/>
          </a:xfrm>
          <a:prstGeom prst="roundRect">
            <a:avLst>
              <a:gd name="adj" fmla="val 10000"/>
            </a:avLst>
          </a:prstGeom>
          <a:solidFill>
            <a:srgbClr val="131D31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512064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828800" y="5029200"/>
            <a:ext cx="9418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🚀 Live Push Simulator &amp; CSV Data Export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828800" y="5303520"/>
            <a:ext cx="9418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Simulates live IoT/exam score pushes with instant chart re-renders; includes an automated client-side RFC 4180 compliant CSV export generator.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 &amp; ROADMAP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Conclusion &amp; Future Roadmap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0725912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Academic Analytics Portal | Bharath Institute (Autonomous)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601200" y="64008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10 of 10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31520" y="1463040"/>
            <a:ext cx="5212080" cy="4663440"/>
          </a:xfrm>
          <a:prstGeom prst="roundRect">
            <a:avLst>
              <a:gd name="adj" fmla="val 2941"/>
            </a:avLst>
          </a:prstGeom>
          <a:solidFill>
            <a:srgbClr val="1E293B"/>
          </a:solidFill>
          <a:ln w="15240">
            <a:solidFill>
              <a:srgbClr val="10B98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169164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🏆 Key Technical Accomplishments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05840" y="219456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Modular Language Subfolder Structure (css/, js/, data/)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05840" y="278892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Interactive D3.js Data-Driven Visualizations &amp; Bar Graphs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05840" y="338328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Official UGC 10-Point Grading Scale &amp; Progress Marksheet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05840" y="397764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Robust Role-Based Access Control (Faculty vs Student)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05840" y="457200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Zero-Dependency Fast Vanilla ES6+ Engine with 100% Reliability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05840" y="516636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Full Responsiveness &amp; High-Fidelity Print Layout Support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1463040"/>
            <a:ext cx="5212080" cy="4663440"/>
          </a:xfrm>
          <a:prstGeom prst="roundRect">
            <a:avLst>
              <a:gd name="adj" fmla="val 2941"/>
            </a:avLst>
          </a:prstGeom>
          <a:solidFill>
            <a:srgbClr val="1E293B"/>
          </a:solidFill>
          <a:ln w="15240">
            <a:solidFill>
              <a:srgbClr val="0EA5E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169164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🚀 Future Enhancements Roadmap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492240" y="2194560"/>
            <a:ext cx="4663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Relational Database Backend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675120" y="2423160"/>
            <a:ext cx="4480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Integrate PostgreSQL / Cloud Firestore via Firebase Data Connect for institutional scale.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492240" y="3154680"/>
            <a:ext cx="4663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Multi-Semester Cumulative CGPA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675120" y="3383280"/>
            <a:ext cx="4480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Expand grading engine across all 8 semesters to compute Cumulative GPA and transcript generation.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492240" y="4114800"/>
            <a:ext cx="4663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Automated PDF Report Dispatch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75120" y="4343400"/>
            <a:ext cx="4480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digital signature stamping and automated parent/student email notification triggers.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492240" y="5074920"/>
            <a:ext cx="4663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AI Academic Risk Predictor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675120" y="5303520"/>
            <a:ext cx="4480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 learning regression model predicting potential student backlogs early in the semester.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 standalone="yes"?>
<Properties xmlns="http://schemas.openxmlformats.org/officeDocument/2006/extended-properties" xmlns:vt="http://schemas.openxmlformats.org/officeDocument/2006/docPropsVTypes">
	<TotalTime>0</TotalTime>
	<Words>0</Words>
	<Application>Microsoft Office PowerPoint</Application>
	<PresentationFormat>On-screen Show (16:9)</PresentationFormat>
	<Paragraphs>0</Paragraphs>
	<Slides>10</Slides>
	<Notes>10</Notes>
	<HiddenSlides>0</HiddenSlides>
	<MMClips>0</MMClips>
	<ScaleCrop>false</ScaleCrop>
	<HeadingPairs>
		<vt:vector size="6" baseType="variant">
			<vt:variant><vt:lpstr>Fonts Used</vt:lpstr></vt:variant>
			<vt:variant><vt:i4>2</vt:i4></vt:variant>
			<vt:variant><vt:lpstr>Theme</vt:lpstr></vt:variant>
			<vt:variant><vt:i4>1</vt:i4></vt:variant>
			<vt:variant><vt:lpstr>Slide Titles</vt:lpstr></vt:variant>
			<vt:variant><vt:i4>10</vt:i4></vt:variant>
		</vt:vector>
	</HeadingPairs>
	<TitlesOfParts>
		<vt:vector size="13" baseType="lpstr">
			<vt:lpstr>Arial</vt:lpstr>
			<vt:lpstr>Calibri</vt:lpstr>
			<vt:lpstr>Office Theme</vt:lpstr>
			<vt:lpstr>Slide 1</vt:lpstr><vt:lpstr>Slide 2</vt:lpstr><vt:lpstr>Slide 3</vt:lpstr><vt:lpstr>Slide 4</vt:lpstr><vt:lpstr>Slide 5</vt:lpstr><vt:lpstr>Slide 6</vt:lpstr><vt:lpstr>Slide 7</vt:lpstr><vt:lpstr>Slide 8</vt:lpstr><vt:lpstr>Slide 9</vt:lpstr><vt:lpstr>Slide 10</vt:lpstr>
		</vt:vector>
	</TitlesOfParts>
	<Company>Bharath Institute of Engineering & Technology</Company>
	<LinksUpToDate>false</LinksUpToDate>
	<SharedDoc>false</SharedDoc>
	<HyperlinksChanged>false</HyperlinksChanged>
	<AppVersion>16.0000</AppVersion>
	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Academic Analytics &amp; Student Marksheet Portal - Project Presentation</dc:title>
  <dc:subject>Modular Web Architecture, D3.js Visualizations &amp; UGC 10-Point Marksheet Engine</dc:subject>
  <dc:creator>Antigravity AI / BIET Academic Portal</dc:creator>
  <cp:lastModifiedBy>Antigravity AI / BIET Academic Portal</cp:lastModifiedBy>
  <cp:revision>1</cp:revision>
  <dcterms:created xsi:type="dcterms:W3CDTF">2026-09-07T05:47:05Z</dcterms:created>
  <dcterms:modified xsi:type="dcterms:W3CDTF">2026-09-07T05:47:05Z</dcterms:modified>
</cp:coreProperties>
</file>