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DE93B3-9DEA-45FF-8A39-0E5452E2DEF2}" v="6" dt="2026-09-30T06:28:51.6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ERAMREDDY UDAYKUMARREDDY" userId="dbe5b8f2cbb89bf8" providerId="LiveId" clId="{EBB78461-0F69-40F9-915A-F04F43BF5A68}"/>
    <pc:docChg chg="modSld">
      <pc:chgData name="VEERAMREDDY UDAYKUMARREDDY" userId="dbe5b8f2cbb89bf8" providerId="LiveId" clId="{EBB78461-0F69-40F9-915A-F04F43BF5A68}" dt="2026-09-30T06:30:35.940" v="514" actId="20577"/>
      <pc:docMkLst>
        <pc:docMk/>
      </pc:docMkLst>
      <pc:sldChg chg="addSp delSp modSp mod">
        <pc:chgData name="VEERAMREDDY UDAYKUMARREDDY" userId="dbe5b8f2cbb89bf8" providerId="LiveId" clId="{EBB78461-0F69-40F9-915A-F04F43BF5A68}" dt="2026-09-30T06:29:46.688" v="425" actId="255"/>
        <pc:sldMkLst>
          <pc:docMk/>
          <pc:sldMk cId="0" sldId="256"/>
        </pc:sldMkLst>
        <pc:spChg chg="mod">
          <ac:chgData name="VEERAMREDDY UDAYKUMARREDDY" userId="dbe5b8f2cbb89bf8" providerId="LiveId" clId="{EBB78461-0F69-40F9-915A-F04F43BF5A68}" dt="2026-09-30T05:50:52.949" v="270" actId="20577"/>
          <ac:spMkLst>
            <pc:docMk/>
            <pc:sldMk cId="0" sldId="256"/>
            <ac:spMk id="3" creationId="{00000000-0000-0000-0000-000000000000}"/>
          </ac:spMkLst>
        </pc:spChg>
        <pc:spChg chg="add mod">
          <ac:chgData name="VEERAMREDDY UDAYKUMARREDDY" userId="dbe5b8f2cbb89bf8" providerId="LiveId" clId="{EBB78461-0F69-40F9-915A-F04F43BF5A68}" dt="2026-09-30T06:28:23.301" v="394" actId="20577"/>
          <ac:spMkLst>
            <pc:docMk/>
            <pc:sldMk cId="0" sldId="256"/>
            <ac:spMk id="7" creationId="{4E45407F-B620-0747-6155-1E2C1F1C3440}"/>
          </ac:spMkLst>
        </pc:spChg>
        <pc:spChg chg="add del mod">
          <ac:chgData name="VEERAMREDDY UDAYKUMARREDDY" userId="dbe5b8f2cbb89bf8" providerId="LiveId" clId="{EBB78461-0F69-40F9-915A-F04F43BF5A68}" dt="2026-09-30T05:47:44.991" v="215"/>
          <ac:spMkLst>
            <pc:docMk/>
            <pc:sldMk cId="0" sldId="256"/>
            <ac:spMk id="8" creationId="{E29C2F72-FEAC-CF83-EA3B-D18AFC929BCA}"/>
          </ac:spMkLst>
        </pc:spChg>
        <pc:spChg chg="add del mod">
          <ac:chgData name="VEERAMREDDY UDAYKUMARREDDY" userId="dbe5b8f2cbb89bf8" providerId="LiveId" clId="{EBB78461-0F69-40F9-915A-F04F43BF5A68}" dt="2026-09-30T05:49:39.742" v="232"/>
          <ac:spMkLst>
            <pc:docMk/>
            <pc:sldMk cId="0" sldId="256"/>
            <ac:spMk id="9" creationId="{440D9BE0-B390-BBC7-80A4-7B8D65B1CFFF}"/>
          </ac:spMkLst>
        </pc:spChg>
        <pc:spChg chg="add del mod">
          <ac:chgData name="VEERAMREDDY UDAYKUMARREDDY" userId="dbe5b8f2cbb89bf8" providerId="LiveId" clId="{EBB78461-0F69-40F9-915A-F04F43BF5A68}" dt="2026-09-30T05:49:43.162" v="235"/>
          <ac:spMkLst>
            <pc:docMk/>
            <pc:sldMk cId="0" sldId="256"/>
            <ac:spMk id="10" creationId="{14D28945-B3B5-0E2A-6386-D67AAB291126}"/>
          </ac:spMkLst>
        </pc:spChg>
        <pc:spChg chg="add mod">
          <ac:chgData name="VEERAMREDDY UDAYKUMARREDDY" userId="dbe5b8f2cbb89bf8" providerId="LiveId" clId="{EBB78461-0F69-40F9-915A-F04F43BF5A68}" dt="2026-09-30T06:29:46.688" v="425" actId="255"/>
          <ac:spMkLst>
            <pc:docMk/>
            <pc:sldMk cId="0" sldId="256"/>
            <ac:spMk id="13" creationId="{A39FC5EF-9E85-791B-39F7-00BB5C9C562E}"/>
          </ac:spMkLst>
        </pc:spChg>
      </pc:sldChg>
      <pc:sldChg chg="modSp mod">
        <pc:chgData name="VEERAMREDDY UDAYKUMARREDDY" userId="dbe5b8f2cbb89bf8" providerId="LiveId" clId="{EBB78461-0F69-40F9-915A-F04F43BF5A68}" dt="2026-09-30T05:49:23.529" v="229" actId="20577"/>
        <pc:sldMkLst>
          <pc:docMk/>
          <pc:sldMk cId="0" sldId="257"/>
        </pc:sldMkLst>
        <pc:spChg chg="mod">
          <ac:chgData name="VEERAMREDDY UDAYKUMARREDDY" userId="dbe5b8f2cbb89bf8" providerId="LiveId" clId="{EBB78461-0F69-40F9-915A-F04F43BF5A68}" dt="2026-09-30T05:49:23.529" v="229" actId="20577"/>
          <ac:spMkLst>
            <pc:docMk/>
            <pc:sldMk cId="0" sldId="257"/>
            <ac:spMk id="10" creationId="{00000000-0000-0000-0000-000000000000}"/>
          </ac:spMkLst>
        </pc:spChg>
      </pc:sldChg>
      <pc:sldChg chg="modSp mod">
        <pc:chgData name="VEERAMREDDY UDAYKUMARREDDY" userId="dbe5b8f2cbb89bf8" providerId="LiveId" clId="{EBB78461-0F69-40F9-915A-F04F43BF5A68}" dt="2026-09-30T06:30:35.940" v="514" actId="20577"/>
        <pc:sldMkLst>
          <pc:docMk/>
          <pc:sldMk cId="0" sldId="266"/>
        </pc:sldMkLst>
        <pc:spChg chg="mod">
          <ac:chgData name="VEERAMREDDY UDAYKUMARREDDY" userId="dbe5b8f2cbb89bf8" providerId="LiveId" clId="{EBB78461-0F69-40F9-915A-F04F43BF5A68}" dt="2026-09-30T06:30:35.940" v="514" actId="20577"/>
          <ac:spMkLst>
            <pc:docMk/>
            <pc:sldMk cId="0" sldId="266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78992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3400" b="1" dirty="0">
                <a:solidFill>
                  <a:srgbClr val="F5F8FC"/>
                </a:solidFill>
                <a:latin typeface="Aptos"/>
              </a:rPr>
              <a:t>STUDENT ANALYTICS &amp;</a:t>
            </a:r>
          </a:p>
          <a:p>
            <a:pPr algn="l"/>
            <a:r>
              <a:rPr lang="en-IN" sz="3400" b="1" dirty="0">
                <a:solidFill>
                  <a:srgbClr val="F5F8FC"/>
                </a:solidFill>
                <a:latin typeface="Aptos"/>
              </a:rPr>
              <a:t>PERFORMANCE DASHBOARD</a:t>
            </a:r>
            <a:endParaRPr sz="3400" b="1" dirty="0">
              <a:solidFill>
                <a:srgbClr val="F5F8FC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3232" y="24688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DBEB4"/>
                </a:solidFill>
                <a:latin typeface="Aptos"/>
              </a:rPr>
              <a:t>Academic Analytics &amp; Marksheet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154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BE4B"/>
                </a:solidFill>
                <a:latin typeface="Aptos"/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566160"/>
            <a:ext cx="10424160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dirty="0">
                <a:solidFill>
                  <a:srgbClr val="F5F8FC"/>
                </a:solidFill>
                <a:latin typeface="Aptos"/>
              </a:rPr>
              <a:t>Student performance data is often stored in static spreadsheets, making it difficult to identify performance patterns, visualize academic progress, and generate official marksheets efficiently.</a:t>
            </a:r>
            <a:endParaRPr lang="en-US" sz="1700" b="0" dirty="0">
              <a:solidFill>
                <a:srgbClr val="F5F8FC"/>
              </a:solidFill>
              <a:latin typeface="Aptos"/>
            </a:endParaRPr>
          </a:p>
          <a:p>
            <a:pPr algn="l"/>
            <a:endParaRPr sz="1700" b="0" dirty="0">
              <a:solidFill>
                <a:srgbClr val="F5F8FC"/>
              </a:solidFill>
              <a:latin typeface="Apto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EC6AC5-6799-4B0C-B98D-87F170646063}"/>
              </a:ext>
            </a:extLst>
          </p:cNvPr>
          <p:cNvSpPr/>
          <p:nvPr/>
        </p:nvSpPr>
        <p:spPr>
          <a:xfrm>
            <a:off x="713232" y="4603966"/>
            <a:ext cx="635776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EduPulse</a:t>
            </a:r>
            <a:r>
              <a:rPr lang="en-US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- Intelligent Campus Analytics &amp; Marksheet Portal</a:t>
            </a:r>
            <a:endParaRPr lang="en-US" sz="20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C993A2-70C0-4727-B575-DB001B92097B}"/>
              </a:ext>
            </a:extLst>
          </p:cNvPr>
          <p:cNvSpPr/>
          <p:nvPr/>
        </p:nvSpPr>
        <p:spPr>
          <a:xfrm>
            <a:off x="713232" y="4288988"/>
            <a:ext cx="2349105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Our Proposed Solution</a:t>
            </a:r>
            <a:endParaRPr lang="en-US" b="1" cap="none" spc="0" dirty="0">
              <a:ln w="0"/>
              <a:solidFill>
                <a:srgbClr val="FFC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45407F-B620-0747-6155-1E2C1F1C3440}"/>
              </a:ext>
            </a:extLst>
          </p:cNvPr>
          <p:cNvSpPr txBox="1"/>
          <p:nvPr/>
        </p:nvSpPr>
        <p:spPr>
          <a:xfrm>
            <a:off x="825909" y="5033427"/>
            <a:ext cx="22364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DONE BY:</a:t>
            </a:r>
          </a:p>
          <a:p>
            <a:r>
              <a:rPr lang="en-IN" sz="1600" dirty="0" err="1">
                <a:solidFill>
                  <a:schemeClr val="bg1"/>
                </a:solidFill>
              </a:rPr>
              <a:t>V.Uday</a:t>
            </a:r>
            <a:r>
              <a:rPr lang="en-IN" sz="1600" dirty="0">
                <a:solidFill>
                  <a:schemeClr val="bg1"/>
                </a:solidFill>
              </a:rPr>
              <a:t> Kumar Reddy</a:t>
            </a:r>
          </a:p>
          <a:p>
            <a:r>
              <a:rPr lang="en-IN" sz="1600" dirty="0">
                <a:solidFill>
                  <a:schemeClr val="bg1"/>
                </a:solidFill>
              </a:rPr>
              <a:t>2</a:t>
            </a:r>
            <a:r>
              <a:rPr lang="en-IN" sz="1600" baseline="30000" dirty="0">
                <a:solidFill>
                  <a:schemeClr val="bg1"/>
                </a:solidFill>
              </a:rPr>
              <a:t>nd</a:t>
            </a:r>
            <a:r>
              <a:rPr lang="en-IN" sz="1600" dirty="0">
                <a:solidFill>
                  <a:schemeClr val="bg1"/>
                </a:solidFill>
              </a:rPr>
              <a:t> BTECH CSE(DS)</a:t>
            </a:r>
          </a:p>
          <a:p>
            <a:r>
              <a:rPr lang="en-IN" sz="1600" dirty="0">
                <a:solidFill>
                  <a:schemeClr val="bg1"/>
                </a:solidFill>
              </a:rPr>
              <a:t>98260040004</a:t>
            </a:r>
          </a:p>
          <a:p>
            <a:r>
              <a:rPr lang="en-IN" sz="1600">
                <a:solidFill>
                  <a:schemeClr val="bg1"/>
                </a:solidFill>
              </a:rPr>
              <a:t>Kalasain</a:t>
            </a: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9FC5EF-9E85-791B-39F7-00BB5C9C562E}"/>
              </a:ext>
            </a:extLst>
          </p:cNvPr>
          <p:cNvSpPr txBox="1"/>
          <p:nvPr/>
        </p:nvSpPr>
        <p:spPr>
          <a:xfrm flipH="1">
            <a:off x="8141110" y="5033427"/>
            <a:ext cx="333461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VERIFIED BY:</a:t>
            </a:r>
          </a:p>
          <a:p>
            <a:r>
              <a:rPr lang="en-IN" dirty="0" err="1">
                <a:solidFill>
                  <a:schemeClr val="bg1"/>
                </a:solidFill>
              </a:rPr>
              <a:t>T.Mani</a:t>
            </a:r>
            <a:r>
              <a:rPr lang="en-IN" dirty="0">
                <a:solidFill>
                  <a:schemeClr val="bg1"/>
                </a:solidFill>
              </a:rPr>
              <a:t> Kumar</a:t>
            </a:r>
          </a:p>
          <a:p>
            <a:r>
              <a:rPr lang="en-IN" dirty="0">
                <a:solidFill>
                  <a:schemeClr val="bg1"/>
                </a:solidFill>
              </a:rPr>
              <a:t>Assistant Professor</a:t>
            </a:r>
          </a:p>
          <a:p>
            <a:r>
              <a:rPr lang="en-IN" dirty="0">
                <a:solidFill>
                  <a:schemeClr val="bg1"/>
                </a:solidFill>
              </a:rPr>
              <a:t>Computer Science Engineering</a:t>
            </a:r>
          </a:p>
          <a:p>
            <a:r>
              <a:rPr lang="en-IN" dirty="0" err="1">
                <a:solidFill>
                  <a:schemeClr val="bg1"/>
                </a:solidFill>
              </a:rPr>
              <a:t>Kalasalingam</a:t>
            </a:r>
            <a:r>
              <a:rPr lang="en-IN" dirty="0">
                <a:solidFill>
                  <a:schemeClr val="bg1"/>
                </a:solidFill>
              </a:rPr>
              <a:t> University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1. Problem &amp;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FBED2"/>
                </a:solidFill>
                <a:latin typeface="Aptos"/>
              </a:rPr>
              <a:t>Why an academic support system is required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3429000" cy="4251960"/>
          </a:xfrm>
          <a:prstGeom prst="roundRect">
            <a:avLst/>
          </a:prstGeom>
          <a:solidFill>
            <a:srgbClr val="142037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73351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DBEB4"/>
                </a:solidFill>
                <a:latin typeface="Aptos"/>
              </a:rPr>
              <a:t>CURRENT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39"/>
            <a:ext cx="2971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• Marks are often stored in static spreadsheets</a:t>
            </a:r>
            <a:br/>
            <a:r>
              <a:rPr sz="1400" b="0">
                <a:solidFill>
                  <a:srgbClr val="F5F8FC"/>
                </a:solidFill>
                <a:latin typeface="Aptos"/>
              </a:rPr>
              <a:t>• Limited visual understanding of performance</a:t>
            </a:r>
            <a:br/>
            <a:r>
              <a:rPr sz="1400" b="0">
                <a:solidFill>
                  <a:srgbClr val="F5F8FC"/>
                </a:solidFill>
                <a:latin typeface="Aptos"/>
              </a:rPr>
              <a:t>• Manual GPA/grade calculations take time</a:t>
            </a:r>
            <a:br/>
            <a:r>
              <a:rPr sz="1400" b="0">
                <a:solidFill>
                  <a:srgbClr val="F5F8FC"/>
                </a:solidFill>
                <a:latin typeface="Aptos"/>
              </a:rPr>
              <a:t>• Academic patterns are difficult to notice early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508760"/>
            <a:ext cx="3429000" cy="4251960"/>
          </a:xfrm>
          <a:prstGeom prst="roundRect">
            <a:avLst/>
          </a:prstGeom>
          <a:solidFill>
            <a:srgbClr val="142037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99432" y="1673351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BE4B"/>
                </a:solidFill>
                <a:latin typeface="Aptos"/>
              </a:rPr>
              <a:t>OUR RESPONSE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2" y="2148839"/>
            <a:ext cx="29718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400" b="0" dirty="0">
                <a:solidFill>
                  <a:srgbClr val="F5F8FC"/>
                </a:solidFill>
                <a:latin typeface="Aptos"/>
              </a:rPr>
              <a:t>• </a:t>
            </a:r>
            <a:r>
              <a:rPr sz="1400" b="0" dirty="0">
                <a:solidFill>
                  <a:srgbClr val="F5F8FC"/>
                </a:solidFill>
                <a:latin typeface="Aptos"/>
              </a:rPr>
              <a:t>Centralized academic portal</a:t>
            </a:r>
            <a:br>
              <a:rPr dirty="0"/>
            </a:br>
            <a:r>
              <a:rPr lang="en-IN" sz="1400" b="0" dirty="0">
                <a:solidFill>
                  <a:srgbClr val="F5F8FC"/>
                </a:solidFill>
                <a:latin typeface="Aptos"/>
              </a:rPr>
              <a:t>• </a:t>
            </a:r>
            <a:r>
              <a:rPr sz="1400" b="0" dirty="0">
                <a:solidFill>
                  <a:srgbClr val="F5F8FC"/>
                </a:solidFill>
                <a:latin typeface="Aptos"/>
              </a:rPr>
              <a:t>Interactive D3.js analytics</a:t>
            </a:r>
            <a:br>
              <a:rPr dirty="0"/>
            </a:br>
            <a:r>
              <a:rPr lang="en-IN" sz="1400" b="0" dirty="0">
                <a:solidFill>
                  <a:srgbClr val="F5F8FC"/>
                </a:solidFill>
                <a:latin typeface="Aptos"/>
              </a:rPr>
              <a:t>• </a:t>
            </a:r>
            <a:r>
              <a:rPr sz="1400" b="0" dirty="0">
                <a:solidFill>
                  <a:srgbClr val="F5F8FC"/>
                </a:solidFill>
                <a:latin typeface="Aptos"/>
              </a:rPr>
              <a:t>Automated UGC grading &amp; SGPA</a:t>
            </a:r>
            <a:br>
              <a:rPr dirty="0"/>
            </a:br>
            <a:r>
              <a:rPr lang="en-IN" sz="1400" b="0" dirty="0">
                <a:solidFill>
                  <a:srgbClr val="F5F8FC"/>
                </a:solidFill>
                <a:latin typeface="Aptos"/>
              </a:rPr>
              <a:t>• </a:t>
            </a:r>
            <a:r>
              <a:rPr sz="1400" b="0" dirty="0">
                <a:solidFill>
                  <a:srgbClr val="F5F8FC"/>
                </a:solidFill>
                <a:latin typeface="Aptos"/>
              </a:rPr>
              <a:t>Personalized student scorecard</a:t>
            </a:r>
            <a:br>
              <a:rPr dirty="0"/>
            </a:br>
            <a:r>
              <a:rPr lang="en-IN" sz="1400" b="0" dirty="0">
                <a:solidFill>
                  <a:srgbClr val="F5F8FC"/>
                </a:solidFill>
                <a:latin typeface="Aptos"/>
              </a:rPr>
              <a:t>• </a:t>
            </a:r>
            <a:r>
              <a:rPr sz="1400" b="0" dirty="0">
                <a:solidFill>
                  <a:srgbClr val="F5F8FC"/>
                </a:solidFill>
                <a:latin typeface="Aptos"/>
              </a:rPr>
              <a:t>Print-ready semester marksheet</a:t>
            </a:r>
            <a:endParaRPr lang="en-US" sz="1400" b="0" dirty="0">
              <a:solidFill>
                <a:srgbClr val="F5F8FC"/>
              </a:solidFill>
              <a:latin typeface="Aptos"/>
            </a:endParaRPr>
          </a:p>
          <a:p>
            <a:pPr algn="l"/>
            <a:r>
              <a:rPr lang="en-US" sz="1400" dirty="0">
                <a:solidFill>
                  <a:srgbClr val="F5F8FC"/>
                </a:solidFill>
                <a:latin typeface="Aptos"/>
              </a:rPr>
              <a:t>AI Explainer</a:t>
            </a:r>
            <a:endParaRPr sz="1400" b="0" dirty="0">
              <a:solidFill>
                <a:srgbClr val="F5F8FC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055864" y="1508760"/>
            <a:ext cx="3429000" cy="4251960"/>
          </a:xfrm>
          <a:prstGeom prst="roundRect">
            <a:avLst/>
          </a:prstGeom>
          <a:solidFill>
            <a:srgbClr val="142037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84464" y="1673351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DBEB4"/>
                </a:solidFill>
                <a:latin typeface="Aptos"/>
              </a:rPr>
              <a:t>ACADEMIC 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4464" y="2148839"/>
            <a:ext cx="29718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400" b="0" dirty="0">
                <a:solidFill>
                  <a:srgbClr val="F5F8FC"/>
                </a:solidFill>
                <a:latin typeface="Aptos"/>
              </a:rPr>
              <a:t>• </a:t>
            </a:r>
            <a:r>
              <a:rPr sz="1400" b="0" dirty="0">
                <a:solidFill>
                  <a:srgbClr val="F5F8FC"/>
                </a:solidFill>
                <a:latin typeface="Aptos"/>
              </a:rPr>
              <a:t>Understand subject performance</a:t>
            </a:r>
            <a:br>
              <a:rPr dirty="0"/>
            </a:br>
            <a:r>
              <a:rPr lang="en-IN" sz="1400" b="0" dirty="0">
                <a:solidFill>
                  <a:srgbClr val="F5F8FC"/>
                </a:solidFill>
                <a:latin typeface="Aptos"/>
              </a:rPr>
              <a:t>• </a:t>
            </a:r>
            <a:r>
              <a:rPr sz="1400" b="0" dirty="0">
                <a:solidFill>
                  <a:srgbClr val="F5F8FC"/>
                </a:solidFill>
                <a:latin typeface="Aptos"/>
              </a:rPr>
              <a:t>Compare student and class trends</a:t>
            </a:r>
            <a:br>
              <a:rPr dirty="0"/>
            </a:br>
            <a:r>
              <a:rPr lang="en-IN" sz="1400" b="0" dirty="0">
                <a:solidFill>
                  <a:srgbClr val="F5F8FC"/>
                </a:solidFill>
                <a:latin typeface="Aptos"/>
              </a:rPr>
              <a:t>• </a:t>
            </a:r>
            <a:r>
              <a:rPr sz="1400" b="0" dirty="0">
                <a:solidFill>
                  <a:srgbClr val="F5F8FC"/>
                </a:solidFill>
                <a:latin typeface="Aptos"/>
              </a:rPr>
              <a:t>Observe attendance vs performance</a:t>
            </a:r>
            <a:br>
              <a:rPr dirty="0"/>
            </a:br>
            <a:r>
              <a:rPr lang="en-IN" sz="1400" b="0" dirty="0">
                <a:solidFill>
                  <a:srgbClr val="F5F8FC"/>
                </a:solidFill>
                <a:latin typeface="Aptos"/>
              </a:rPr>
              <a:t>• </a:t>
            </a:r>
            <a:r>
              <a:rPr sz="1400" b="0" dirty="0">
                <a:solidFill>
                  <a:srgbClr val="F5F8FC"/>
                </a:solidFill>
                <a:latin typeface="Aptos"/>
              </a:rPr>
              <a:t>Provide data-driven faculty review</a:t>
            </a:r>
            <a:endParaRPr lang="en-US" sz="1400" b="0" dirty="0">
              <a:solidFill>
                <a:srgbClr val="F5F8FC"/>
              </a:solidFill>
              <a:latin typeface="Aptos"/>
            </a:endParaRPr>
          </a:p>
          <a:p>
            <a:pPr algn="l"/>
            <a:endParaRPr sz="1400" b="0" dirty="0">
              <a:solidFill>
                <a:srgbClr val="F5F8F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2.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FBED2"/>
                </a:solidFill>
                <a:latin typeface="Aptos"/>
              </a:rPr>
              <a:t>One portal connecting student records, analytics and official academic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2864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F5F8FC"/>
                </a:solidFill>
                <a:latin typeface="Aptos"/>
              </a:defRPr>
            </a:pPr>
            <a:r>
              <a:rPr dirty="0"/>
              <a:t>• Web-based Academic Analytics &amp; Marksheet Portal for faculty and students.</a:t>
            </a:r>
          </a:p>
          <a:p>
            <a:pPr>
              <a:spcAft>
                <a:spcPts val="1300"/>
              </a:spcAft>
              <a:defRPr sz="1800">
                <a:solidFill>
                  <a:srgbClr val="F5F8FC"/>
                </a:solidFill>
                <a:latin typeface="Aptos"/>
              </a:defRPr>
            </a:pPr>
            <a:r>
              <a:rPr dirty="0"/>
              <a:t>• Faculty dashboard provides cohort KPIs, sortable records, CRUD operations and CSV export.</a:t>
            </a:r>
          </a:p>
          <a:p>
            <a:pPr>
              <a:spcAft>
                <a:spcPts val="1300"/>
              </a:spcAft>
              <a:defRPr sz="1800">
                <a:solidFill>
                  <a:srgbClr val="F5F8FC"/>
                </a:solidFill>
                <a:latin typeface="Aptos"/>
              </a:defRPr>
            </a:pPr>
            <a:r>
              <a:rPr dirty="0"/>
              <a:t>• Student dashboard provides a private scorecard, subject radar chart, attendance gauge and marksheet download.</a:t>
            </a:r>
          </a:p>
          <a:p>
            <a:pPr>
              <a:spcAft>
                <a:spcPts val="1300"/>
              </a:spcAft>
              <a:defRPr sz="1800">
                <a:solidFill>
                  <a:srgbClr val="F5F8FC"/>
                </a:solidFill>
                <a:latin typeface="Aptos"/>
              </a:defRPr>
            </a:pPr>
            <a:r>
              <a:rPr dirty="0"/>
              <a:t>• D3.js converts academic data into interactive charts for easier interpretation.</a:t>
            </a:r>
          </a:p>
          <a:p>
            <a:pPr>
              <a:spcAft>
                <a:spcPts val="1300"/>
              </a:spcAft>
              <a:defRPr sz="1800">
                <a:solidFill>
                  <a:srgbClr val="F5F8FC"/>
                </a:solidFill>
                <a:latin typeface="Aptos"/>
              </a:defRPr>
            </a:pPr>
            <a:r>
              <a:rPr dirty="0"/>
              <a:t>• UGC-based grading and SGPA calculation are generated automatically.</a:t>
            </a:r>
            <a:endParaRPr lang="en-US" dirty="0"/>
          </a:p>
          <a:p>
            <a:pPr>
              <a:spcAft>
                <a:spcPts val="1300"/>
              </a:spcAft>
              <a:defRPr sz="1800">
                <a:solidFill>
                  <a:srgbClr val="F5F8FC"/>
                </a:solidFill>
                <a:latin typeface="Aptos"/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822960" y="5897880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rgbClr val="2DBEB4"/>
                </a:solidFill>
                <a:latin typeface="Aptos"/>
              </a:rPr>
              <a:t>Core idea: convert raw academic records into understandable academic information</a:t>
            </a:r>
            <a:r>
              <a:rPr lang="en-US" sz="1600" b="1" dirty="0">
                <a:solidFill>
                  <a:srgbClr val="2DBEB4"/>
                </a:solidFill>
                <a:latin typeface="Aptos"/>
              </a:rPr>
              <a:t> and give an perfect student academic prediction</a:t>
            </a:r>
            <a:r>
              <a:rPr sz="1600" b="1" dirty="0">
                <a:solidFill>
                  <a:srgbClr val="2DBEB4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3. 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FBED2"/>
                </a:solidFill>
                <a:latin typeface="Aptos"/>
              </a:rPr>
              <a:t>Major modules described in the project guide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429000" cy="1965960"/>
          </a:xfrm>
          <a:prstGeom prst="roundRect">
            <a:avLst/>
          </a:prstGeom>
          <a:solidFill>
            <a:srgbClr val="142037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81912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DBEB4"/>
                </a:solidFill>
                <a:latin typeface="Aptos"/>
              </a:rPr>
              <a:t>Role-Based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297180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Faculty and Student modes with different views and permissions.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429000" cy="1965960"/>
          </a:xfrm>
          <a:prstGeom prst="roundRect">
            <a:avLst/>
          </a:prstGeom>
          <a:solidFill>
            <a:srgbClr val="142037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17720" y="1581912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BE4B"/>
                </a:solidFill>
                <a:latin typeface="Aptos"/>
              </a:rPr>
              <a:t>Academic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057400"/>
            <a:ext cx="297180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KPI cards, sortable student table and cohort metrics.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417320"/>
            <a:ext cx="3429000" cy="1965960"/>
          </a:xfrm>
          <a:prstGeom prst="roundRect">
            <a:avLst/>
          </a:prstGeom>
          <a:solidFill>
            <a:srgbClr val="142037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21040" y="1581912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DBEB4"/>
                </a:solidFill>
                <a:latin typeface="Aptos"/>
              </a:rPr>
              <a:t>Interactive D3.js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057400"/>
            <a:ext cx="297180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Bar, donut, scatter and radar visualizations.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749039"/>
            <a:ext cx="3429000" cy="1965960"/>
          </a:xfrm>
          <a:prstGeom prst="roundRect">
            <a:avLst/>
          </a:prstGeom>
          <a:solidFill>
            <a:srgbClr val="142037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913631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BE4B"/>
                </a:solidFill>
                <a:latin typeface="Aptos"/>
              </a:rPr>
              <a:t>UGC Grading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89120"/>
            <a:ext cx="297180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Letter grades, grade points, pass/fail and SGPA.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749039"/>
            <a:ext cx="3429000" cy="1965960"/>
          </a:xfrm>
          <a:prstGeom prst="roundRect">
            <a:avLst/>
          </a:prstGeom>
          <a:solidFill>
            <a:srgbClr val="142037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17720" y="3913631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DBEB4"/>
                </a:solidFill>
                <a:latin typeface="Aptos"/>
              </a:rPr>
              <a:t>Digital Marksheet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389120"/>
            <a:ext cx="297180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A4 print-ready progress card with PDF export.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3749039"/>
            <a:ext cx="3429000" cy="1965960"/>
          </a:xfrm>
          <a:prstGeom prst="roundRect">
            <a:avLst/>
          </a:prstGeom>
          <a:solidFill>
            <a:srgbClr val="142037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21040" y="3913631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BE4B"/>
                </a:solidFill>
                <a:latin typeface="Aptos"/>
              </a:rPr>
              <a:t>Data Persistence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389120"/>
            <a:ext cx="297180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LocalStorage preserves student edits across reloads.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4. Analytical &amp; Predictive Support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FBED2"/>
                </a:solidFill>
                <a:latin typeface="Aptos"/>
              </a:rPr>
              <a:t>How the portal supports academic understanding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383280" cy="4389120"/>
          </a:xfrm>
          <a:prstGeom prst="roundRect">
            <a:avLst/>
          </a:prstGeom>
          <a:solidFill>
            <a:srgbClr val="142037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8191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DBEB4"/>
                </a:solidFill>
                <a:latin typeface="Aptos"/>
              </a:rPr>
              <a:t>STUDENT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292608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Marks • Subjects • Attendance</a:t>
            </a:r>
            <a:br/>
            <a:br/>
            <a:r>
              <a:rPr sz="1400" b="0">
                <a:solidFill>
                  <a:srgbClr val="F5F8FC"/>
                </a:solidFill>
                <a:latin typeface="Aptos"/>
              </a:rPr>
              <a:t>The application processes a 22-student cohort dataset into totals, grades and performance metrics.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417320"/>
            <a:ext cx="3383280" cy="4389120"/>
          </a:xfrm>
          <a:prstGeom prst="roundRect">
            <a:avLst/>
          </a:prstGeom>
          <a:solidFill>
            <a:srgbClr val="142037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36008" y="158191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BE4B"/>
                </a:solidFill>
                <a:latin typeface="Aptos"/>
              </a:rPr>
              <a:t>ANALYTICS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6008" y="2057400"/>
            <a:ext cx="292608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D3.js visualizations</a:t>
            </a:r>
            <a:br/>
            <a:br/>
            <a:r>
              <a:rPr sz="1400" b="0">
                <a:solidFill>
                  <a:srgbClr val="F5F8FC"/>
                </a:solidFill>
                <a:latin typeface="Aptos"/>
              </a:rPr>
              <a:t>• Subject averages</a:t>
            </a:r>
            <a:br/>
            <a:r>
              <a:rPr sz="1400" b="0">
                <a:solidFill>
                  <a:srgbClr val="F5F8FC"/>
                </a:solidFill>
                <a:latin typeface="Aptos"/>
              </a:rPr>
              <a:t>• Grade distribution</a:t>
            </a:r>
            <a:br/>
            <a:r>
              <a:rPr sz="1400" b="0">
                <a:solidFill>
                  <a:srgbClr val="F5F8FC"/>
                </a:solidFill>
                <a:latin typeface="Aptos"/>
              </a:rPr>
              <a:t>• Attendance vs performance</a:t>
            </a:r>
            <a:br/>
            <a:r>
              <a:rPr sz="1400" b="0">
                <a:solidFill>
                  <a:srgbClr val="F5F8FC"/>
                </a:solidFill>
                <a:latin typeface="Aptos"/>
              </a:rPr>
              <a:t>• Student vs class comparison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9016" y="1417320"/>
            <a:ext cx="3383280" cy="4389120"/>
          </a:xfrm>
          <a:prstGeom prst="roundRect">
            <a:avLst/>
          </a:prstGeom>
          <a:solidFill>
            <a:srgbClr val="142037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57616" y="158191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DBEB4"/>
                </a:solidFill>
                <a:latin typeface="Aptos"/>
              </a:rPr>
              <a:t>SUPPORT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7616" y="2057400"/>
            <a:ext cx="292608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Personalized scorecard</a:t>
            </a:r>
            <a:br/>
            <a:br/>
            <a:r>
              <a:rPr sz="1400" b="0">
                <a:solidFill>
                  <a:srgbClr val="F5F8FC"/>
                </a:solidFill>
                <a:latin typeface="Aptos"/>
              </a:rPr>
              <a:t>• Strength/weakness visibility</a:t>
            </a:r>
            <a:br/>
            <a:r>
              <a:rPr sz="1400" b="0">
                <a:solidFill>
                  <a:srgbClr val="F5F8FC"/>
                </a:solidFill>
                <a:latin typeface="Aptos"/>
              </a:rPr>
              <a:t>• Academic trend understanding</a:t>
            </a:r>
            <a:br/>
            <a:r>
              <a:rPr sz="1400" b="0">
                <a:solidFill>
                  <a:srgbClr val="F5F8FC"/>
                </a:solidFill>
                <a:latin typeface="Aptos"/>
              </a:rPr>
              <a:t>• Marksheet generation</a:t>
            </a:r>
            <a:br/>
            <a:r>
              <a:rPr sz="1400" b="0">
                <a:solidFill>
                  <a:srgbClr val="F5F8FC"/>
                </a:solidFill>
                <a:latin typeface="Aptos"/>
              </a:rPr>
              <a:t>• Data-backed faculty 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5. UGC Grading &amp; SGPA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1040" y="98755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FBED2"/>
                </a:solidFill>
                <a:latin typeface="Aptos"/>
              </a:rPr>
              <a:t>Automated academic result processing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2103120" cy="530352"/>
          </a:xfrm>
          <a:prstGeom prst="rect">
            <a:avLst/>
          </a:prstGeom>
          <a:solidFill>
            <a:srgbClr val="2D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435607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A1223"/>
                </a:solidFill>
                <a:latin typeface="Aptos"/>
              </a:rPr>
              <a:t>Marks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79" y="1325880"/>
            <a:ext cx="1828800" cy="530352"/>
          </a:xfrm>
          <a:prstGeom prst="rect">
            <a:avLst/>
          </a:prstGeom>
          <a:solidFill>
            <a:srgbClr val="2D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26079" y="143560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A1223"/>
                </a:solidFill>
                <a:latin typeface="Aptos"/>
              </a:rPr>
              <a:t>Grade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325880"/>
            <a:ext cx="1645920" cy="530352"/>
          </a:xfrm>
          <a:prstGeom prst="rect">
            <a:avLst/>
          </a:prstGeom>
          <a:solidFill>
            <a:srgbClr val="2D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0" y="1435607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A1223"/>
                </a:solidFill>
                <a:latin typeface="Aptos"/>
              </a:rPr>
              <a:t>GP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325880"/>
            <a:ext cx="2194560" cy="530352"/>
          </a:xfrm>
          <a:prstGeom prst="rect">
            <a:avLst/>
          </a:prstGeom>
          <a:solidFill>
            <a:srgbClr val="2D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435607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A1223"/>
                </a:solidFill>
                <a:latin typeface="Aptos"/>
              </a:rPr>
              <a:t>Status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1874519"/>
            <a:ext cx="2103120" cy="475488"/>
          </a:xfrm>
          <a:prstGeom prst="rect">
            <a:avLst/>
          </a:prstGeom>
          <a:solidFill>
            <a:srgbClr val="142037"/>
          </a:solidFill>
          <a:ln>
            <a:solidFill>
              <a:srgbClr val="32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19659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F8FC"/>
                </a:solidFill>
                <a:latin typeface="Aptos"/>
              </a:rPr>
              <a:t>90–100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79" y="1874519"/>
            <a:ext cx="1828800" cy="475488"/>
          </a:xfrm>
          <a:prstGeom prst="rect">
            <a:avLst/>
          </a:prstGeom>
          <a:solidFill>
            <a:srgbClr val="142037"/>
          </a:solidFill>
          <a:ln>
            <a:solidFill>
              <a:srgbClr val="32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26079" y="1965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F8FC"/>
                </a:solidFill>
                <a:latin typeface="Aptos"/>
              </a:rPr>
              <a:t>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1874519"/>
            <a:ext cx="1645920" cy="475488"/>
          </a:xfrm>
          <a:prstGeom prst="rect">
            <a:avLst/>
          </a:prstGeom>
          <a:solidFill>
            <a:srgbClr val="142037"/>
          </a:solidFill>
          <a:ln>
            <a:solidFill>
              <a:srgbClr val="32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0" y="1965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F8FC"/>
                </a:solidFill>
                <a:latin typeface="Aptos"/>
              </a:rPr>
              <a:t>10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874519"/>
            <a:ext cx="2194560" cy="475488"/>
          </a:xfrm>
          <a:prstGeom prst="rect">
            <a:avLst/>
          </a:prstGeom>
          <a:solidFill>
            <a:srgbClr val="142037"/>
          </a:solidFill>
          <a:ln>
            <a:solidFill>
              <a:srgbClr val="32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19659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F8FC"/>
                </a:solidFill>
                <a:latin typeface="Aptos"/>
              </a:rPr>
              <a:t>Passed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2350008"/>
            <a:ext cx="2103120" cy="475488"/>
          </a:xfrm>
          <a:prstGeom prst="rect">
            <a:avLst/>
          </a:prstGeom>
          <a:solidFill>
            <a:srgbClr val="142037"/>
          </a:solidFill>
          <a:ln>
            <a:solidFill>
              <a:srgbClr val="32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244144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F8FC"/>
                </a:solidFill>
                <a:latin typeface="Aptos"/>
              </a:rPr>
              <a:t>80–89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26079" y="2350008"/>
            <a:ext cx="1828800" cy="475488"/>
          </a:xfrm>
          <a:prstGeom prst="rect">
            <a:avLst/>
          </a:prstGeom>
          <a:solidFill>
            <a:srgbClr val="142037"/>
          </a:solidFill>
          <a:ln>
            <a:solidFill>
              <a:srgbClr val="32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926079" y="244144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F8FC"/>
                </a:solidFill>
                <a:latin typeface="Aptos"/>
              </a:rPr>
              <a:t>A+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2350008"/>
            <a:ext cx="1645920" cy="475488"/>
          </a:xfrm>
          <a:prstGeom prst="rect">
            <a:avLst/>
          </a:prstGeom>
          <a:solidFill>
            <a:srgbClr val="142037"/>
          </a:solidFill>
          <a:ln>
            <a:solidFill>
              <a:srgbClr val="32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54880" y="244144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F8FC"/>
                </a:solidFill>
                <a:latin typeface="Aptos"/>
              </a:rPr>
              <a:t>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2350008"/>
            <a:ext cx="2194560" cy="475488"/>
          </a:xfrm>
          <a:prstGeom prst="rect">
            <a:avLst/>
          </a:prstGeom>
          <a:solidFill>
            <a:srgbClr val="142037"/>
          </a:solidFill>
          <a:ln>
            <a:solidFill>
              <a:srgbClr val="32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0" y="244144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F8FC"/>
                </a:solidFill>
                <a:latin typeface="Aptos"/>
              </a:rPr>
              <a:t>Passed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2825496"/>
            <a:ext cx="2103120" cy="475488"/>
          </a:xfrm>
          <a:prstGeom prst="rect">
            <a:avLst/>
          </a:prstGeom>
          <a:solidFill>
            <a:srgbClr val="142037"/>
          </a:solidFill>
          <a:ln>
            <a:solidFill>
              <a:srgbClr val="32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" y="2916936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F8FC"/>
                </a:solidFill>
                <a:latin typeface="Aptos"/>
              </a:rPr>
              <a:t>70–79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26079" y="2825496"/>
            <a:ext cx="1828800" cy="475488"/>
          </a:xfrm>
          <a:prstGeom prst="rect">
            <a:avLst/>
          </a:prstGeom>
          <a:solidFill>
            <a:srgbClr val="142037"/>
          </a:solidFill>
          <a:ln>
            <a:solidFill>
              <a:srgbClr val="32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926079" y="291693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F8FC"/>
                </a:solidFill>
                <a:latin typeface="Aptos"/>
              </a:rPr>
              <a:t>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0" y="2825496"/>
            <a:ext cx="1645920" cy="475488"/>
          </a:xfrm>
          <a:prstGeom prst="rect">
            <a:avLst/>
          </a:prstGeom>
          <a:solidFill>
            <a:srgbClr val="142037"/>
          </a:solidFill>
          <a:ln>
            <a:solidFill>
              <a:srgbClr val="32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754880" y="2916936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F8FC"/>
                </a:solidFill>
                <a:latin typeface="Aptos"/>
              </a:rPr>
              <a:t>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2825496"/>
            <a:ext cx="2194560" cy="475488"/>
          </a:xfrm>
          <a:prstGeom prst="rect">
            <a:avLst/>
          </a:prstGeom>
          <a:solidFill>
            <a:srgbClr val="142037"/>
          </a:solidFill>
          <a:ln>
            <a:solidFill>
              <a:srgbClr val="32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0" y="2916936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F8FC"/>
                </a:solidFill>
                <a:latin typeface="Aptos"/>
              </a:rPr>
              <a:t>Passed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" y="3300984"/>
            <a:ext cx="2103120" cy="475488"/>
          </a:xfrm>
          <a:prstGeom prst="rect">
            <a:avLst/>
          </a:prstGeom>
          <a:solidFill>
            <a:srgbClr val="142037"/>
          </a:solidFill>
          <a:ln>
            <a:solidFill>
              <a:srgbClr val="32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2960" y="3392424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F8FC"/>
                </a:solidFill>
                <a:latin typeface="Aptos"/>
              </a:rPr>
              <a:t>60–69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26079" y="3300984"/>
            <a:ext cx="1828800" cy="475488"/>
          </a:xfrm>
          <a:prstGeom prst="rect">
            <a:avLst/>
          </a:prstGeom>
          <a:solidFill>
            <a:srgbClr val="142037"/>
          </a:solidFill>
          <a:ln>
            <a:solidFill>
              <a:srgbClr val="32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926079" y="339242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F8FC"/>
                </a:solidFill>
                <a:latin typeface="Aptos"/>
              </a:rPr>
              <a:t>B+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754880" y="3300984"/>
            <a:ext cx="1645920" cy="475488"/>
          </a:xfrm>
          <a:prstGeom prst="rect">
            <a:avLst/>
          </a:prstGeom>
          <a:solidFill>
            <a:srgbClr val="142037"/>
          </a:solidFill>
          <a:ln>
            <a:solidFill>
              <a:srgbClr val="32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754880" y="3392424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F8FC"/>
                </a:solidFill>
                <a:latin typeface="Aptos"/>
              </a:rPr>
              <a:t>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3300984"/>
            <a:ext cx="2194560" cy="475488"/>
          </a:xfrm>
          <a:prstGeom prst="rect">
            <a:avLst/>
          </a:prstGeom>
          <a:solidFill>
            <a:srgbClr val="142037"/>
          </a:solidFill>
          <a:ln>
            <a:solidFill>
              <a:srgbClr val="32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00800" y="3392424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F8FC"/>
                </a:solidFill>
                <a:latin typeface="Aptos"/>
              </a:rPr>
              <a:t>Passed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60" y="3776472"/>
            <a:ext cx="2103120" cy="475488"/>
          </a:xfrm>
          <a:prstGeom prst="rect">
            <a:avLst/>
          </a:prstGeom>
          <a:solidFill>
            <a:srgbClr val="142037"/>
          </a:solidFill>
          <a:ln>
            <a:solidFill>
              <a:srgbClr val="32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22960" y="386791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F8FC"/>
                </a:solidFill>
                <a:latin typeface="Aptos"/>
              </a:rPr>
              <a:t>50–59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926079" y="3776472"/>
            <a:ext cx="1828800" cy="475488"/>
          </a:xfrm>
          <a:prstGeom prst="rect">
            <a:avLst/>
          </a:prstGeom>
          <a:solidFill>
            <a:srgbClr val="142037"/>
          </a:solidFill>
          <a:ln>
            <a:solidFill>
              <a:srgbClr val="32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926079" y="386791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F8FC"/>
                </a:solidFill>
                <a:latin typeface="Aptos"/>
              </a:rPr>
              <a:t>B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754880" y="3776472"/>
            <a:ext cx="1645920" cy="475488"/>
          </a:xfrm>
          <a:prstGeom prst="rect">
            <a:avLst/>
          </a:prstGeom>
          <a:solidFill>
            <a:srgbClr val="142037"/>
          </a:solidFill>
          <a:ln>
            <a:solidFill>
              <a:srgbClr val="32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754880" y="386791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F8FC"/>
                </a:solidFill>
                <a:latin typeface="Aptos"/>
              </a:rPr>
              <a:t>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3776472"/>
            <a:ext cx="2194560" cy="475488"/>
          </a:xfrm>
          <a:prstGeom prst="rect">
            <a:avLst/>
          </a:prstGeom>
          <a:solidFill>
            <a:srgbClr val="142037"/>
          </a:solidFill>
          <a:ln>
            <a:solidFill>
              <a:srgbClr val="32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00800" y="3867912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F8FC"/>
                </a:solidFill>
                <a:latin typeface="Aptos"/>
              </a:rPr>
              <a:t>Passed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2960" y="4251960"/>
            <a:ext cx="2103120" cy="475488"/>
          </a:xfrm>
          <a:prstGeom prst="rect">
            <a:avLst/>
          </a:prstGeom>
          <a:solidFill>
            <a:srgbClr val="142037"/>
          </a:solidFill>
          <a:ln>
            <a:solidFill>
              <a:srgbClr val="32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22960" y="43434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F8FC"/>
                </a:solidFill>
                <a:latin typeface="Aptos"/>
              </a:rPr>
              <a:t>40–49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926079" y="4251960"/>
            <a:ext cx="1828800" cy="475488"/>
          </a:xfrm>
          <a:prstGeom prst="rect">
            <a:avLst/>
          </a:prstGeom>
          <a:solidFill>
            <a:srgbClr val="142037"/>
          </a:solidFill>
          <a:ln>
            <a:solidFill>
              <a:srgbClr val="32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926079" y="43434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F8FC"/>
                </a:solidFill>
                <a:latin typeface="Aptos"/>
              </a:rPr>
              <a:t>C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754880" y="4251960"/>
            <a:ext cx="1645920" cy="475488"/>
          </a:xfrm>
          <a:prstGeom prst="rect">
            <a:avLst/>
          </a:prstGeom>
          <a:solidFill>
            <a:srgbClr val="142037"/>
          </a:solidFill>
          <a:ln>
            <a:solidFill>
              <a:srgbClr val="32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754880" y="43434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F8FC"/>
                </a:solidFill>
                <a:latin typeface="Aptos"/>
              </a:rPr>
              <a:t>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0" y="4251960"/>
            <a:ext cx="2194560" cy="475488"/>
          </a:xfrm>
          <a:prstGeom prst="rect">
            <a:avLst/>
          </a:prstGeom>
          <a:solidFill>
            <a:srgbClr val="142037"/>
          </a:solidFill>
          <a:ln>
            <a:solidFill>
              <a:srgbClr val="32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400800" y="434340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F8FC"/>
                </a:solidFill>
                <a:latin typeface="Aptos"/>
              </a:rPr>
              <a:t>Passed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2960" y="4727448"/>
            <a:ext cx="2103120" cy="475488"/>
          </a:xfrm>
          <a:prstGeom prst="rect">
            <a:avLst/>
          </a:prstGeom>
          <a:solidFill>
            <a:srgbClr val="142037"/>
          </a:solidFill>
          <a:ln>
            <a:solidFill>
              <a:srgbClr val="32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22960" y="481888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F8FC"/>
                </a:solidFill>
                <a:latin typeface="Aptos"/>
              </a:rPr>
              <a:t>35–39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926079" y="4727448"/>
            <a:ext cx="1828800" cy="475488"/>
          </a:xfrm>
          <a:prstGeom prst="rect">
            <a:avLst/>
          </a:prstGeom>
          <a:solidFill>
            <a:srgbClr val="142037"/>
          </a:solidFill>
          <a:ln>
            <a:solidFill>
              <a:srgbClr val="32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2926079" y="48188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F8FC"/>
                </a:solidFill>
                <a:latin typeface="Aptos"/>
              </a:rPr>
              <a:t>P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754880" y="4727448"/>
            <a:ext cx="1645920" cy="475488"/>
          </a:xfrm>
          <a:prstGeom prst="rect">
            <a:avLst/>
          </a:prstGeom>
          <a:solidFill>
            <a:srgbClr val="142037"/>
          </a:solidFill>
          <a:ln>
            <a:solidFill>
              <a:srgbClr val="32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754880" y="481888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F8FC"/>
                </a:solidFill>
                <a:latin typeface="Aptos"/>
              </a:rPr>
              <a:t>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00800" y="4727448"/>
            <a:ext cx="2194560" cy="475488"/>
          </a:xfrm>
          <a:prstGeom prst="rect">
            <a:avLst/>
          </a:prstGeom>
          <a:solidFill>
            <a:srgbClr val="142037"/>
          </a:solidFill>
          <a:ln>
            <a:solidFill>
              <a:srgbClr val="32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400800" y="48188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F8FC"/>
                </a:solidFill>
                <a:latin typeface="Aptos"/>
              </a:rPr>
              <a:t>Passed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22960" y="5202936"/>
            <a:ext cx="2103120" cy="475488"/>
          </a:xfrm>
          <a:prstGeom prst="rect">
            <a:avLst/>
          </a:prstGeom>
          <a:solidFill>
            <a:srgbClr val="142037"/>
          </a:solidFill>
          <a:ln>
            <a:solidFill>
              <a:srgbClr val="32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22960" y="5294376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F8FC"/>
                </a:solidFill>
                <a:latin typeface="Aptos"/>
              </a:rPr>
              <a:t>0–34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926079" y="5202936"/>
            <a:ext cx="1828800" cy="475488"/>
          </a:xfrm>
          <a:prstGeom prst="rect">
            <a:avLst/>
          </a:prstGeom>
          <a:solidFill>
            <a:srgbClr val="142037"/>
          </a:solidFill>
          <a:ln>
            <a:solidFill>
              <a:srgbClr val="32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2926079" y="529437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F8FC"/>
                </a:solidFill>
                <a:latin typeface="Aptos"/>
              </a:rPr>
              <a:t>F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754880" y="5202936"/>
            <a:ext cx="1645920" cy="475488"/>
          </a:xfrm>
          <a:prstGeom prst="rect">
            <a:avLst/>
          </a:prstGeom>
          <a:solidFill>
            <a:srgbClr val="142037"/>
          </a:solidFill>
          <a:ln>
            <a:solidFill>
              <a:srgbClr val="32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754880" y="5294376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F8FC"/>
                </a:solidFill>
                <a:latin typeface="Aptos"/>
              </a:rPr>
              <a:t>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00800" y="5202936"/>
            <a:ext cx="2194560" cy="475488"/>
          </a:xfrm>
          <a:prstGeom prst="rect">
            <a:avLst/>
          </a:prstGeom>
          <a:solidFill>
            <a:srgbClr val="142037"/>
          </a:solidFill>
          <a:ln>
            <a:solidFill>
              <a:srgbClr val="32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400800" y="5294376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F8FC"/>
                </a:solidFill>
                <a:latin typeface="Aptos"/>
              </a:rPr>
              <a:t>Failed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595360" y="1161288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dirty="0">
                <a:solidFill>
                  <a:srgbClr val="F5BE4B"/>
                </a:solidFill>
                <a:latin typeface="Aptos"/>
              </a:rPr>
              <a:t>Pass rule: score ≥ 35 in all 4 subjects.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595360" y="1431034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dirty="0">
                <a:solidFill>
                  <a:srgbClr val="2DBEB4"/>
                </a:solidFill>
                <a:latin typeface="Aptos"/>
              </a:rPr>
              <a:t>SGPA = Σ(Credits × Grade Point) / </a:t>
            </a:r>
            <a:r>
              <a:rPr sz="1900" b="1" dirty="0" err="1">
                <a:solidFill>
                  <a:srgbClr val="2DBEB4"/>
                </a:solidFill>
                <a:latin typeface="Aptos"/>
              </a:rPr>
              <a:t>ΣCredits</a:t>
            </a:r>
            <a:endParaRPr sz="1900" b="1" dirty="0">
              <a:solidFill>
                <a:srgbClr val="2DBEB4"/>
              </a:solidFill>
              <a:latin typeface="Aptos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8595360" y="2036254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F5F8FC"/>
                </a:solidFill>
                <a:latin typeface="Aptos"/>
              </a:rPr>
              <a:t>Credits: </a:t>
            </a:r>
            <a:r>
              <a:rPr sz="1400" b="0" dirty="0" err="1">
                <a:solidFill>
                  <a:srgbClr val="F5F8FC"/>
                </a:solidFill>
                <a:latin typeface="Aptos"/>
              </a:rPr>
              <a:t>Maths</a:t>
            </a:r>
            <a:r>
              <a:rPr sz="1400" b="0" dirty="0">
                <a:solidFill>
                  <a:srgbClr val="F5F8FC"/>
                </a:solidFill>
                <a:latin typeface="Aptos"/>
              </a:rPr>
              <a:t> 4 • Science 4 • English 3 • Programming 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595360" y="2478024"/>
            <a:ext cx="40233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AFBED2"/>
                </a:solidFill>
                <a:latin typeface="Aptos"/>
              </a:rPr>
              <a:t>The guide specifies a 10-point UGC grading implementation and automated SGPA</a:t>
            </a:r>
            <a:endParaRPr lang="en-US" sz="1400" b="0" dirty="0">
              <a:solidFill>
                <a:srgbClr val="AFBED2"/>
              </a:solidFill>
              <a:latin typeface="Aptos"/>
            </a:endParaRPr>
          </a:p>
          <a:p>
            <a:pPr algn="l"/>
            <a:r>
              <a:rPr sz="1400" b="0" dirty="0">
                <a:solidFill>
                  <a:srgbClr val="AFBED2"/>
                </a:solidFill>
                <a:latin typeface="Aptos"/>
              </a:rPr>
              <a:t> calculation.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6. System Architecture &amp;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FBED2"/>
                </a:solidFill>
                <a:latin typeface="Aptos"/>
              </a:rPr>
              <a:t>From login to analytics and marksheet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74519"/>
            <a:ext cx="2011680" cy="2514600"/>
          </a:xfrm>
          <a:prstGeom prst="roundRect">
            <a:avLst/>
          </a:prstGeom>
          <a:solidFill>
            <a:srgbClr val="142037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03911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DBEB4"/>
                </a:solidFill>
                <a:latin typeface="Aptos"/>
              </a:rPr>
              <a:t>LOGIN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1554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Session check</a:t>
            </a:r>
            <a:br/>
            <a:r>
              <a:rPr sz="1400" b="0">
                <a:solidFill>
                  <a:srgbClr val="F5F8FC"/>
                </a:solidFill>
                <a:latin typeface="Aptos"/>
              </a:rPr>
              <a:t>Role selection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32588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BE4B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6974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DBEB4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39" y="1874519"/>
            <a:ext cx="2011680" cy="2514600"/>
          </a:xfrm>
          <a:prstGeom prst="roundRect">
            <a:avLst/>
          </a:prstGeom>
          <a:solidFill>
            <a:srgbClr val="142037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63239" y="203911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BE4B"/>
                </a:solidFill>
                <a:latin typeface="Aptos"/>
              </a:rPr>
              <a:t>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39" y="2514600"/>
            <a:ext cx="1554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Calculate totals,</a:t>
            </a:r>
            <a:br/>
            <a:r>
              <a:rPr sz="1400" b="0">
                <a:solidFill>
                  <a:srgbClr val="F5F8FC"/>
                </a:solidFill>
                <a:latin typeface="Aptos"/>
              </a:rPr>
              <a:t>grades &amp; SGPA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39" y="132588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BE4B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6974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DBEB4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59" y="1874519"/>
            <a:ext cx="2011680" cy="2514600"/>
          </a:xfrm>
          <a:prstGeom prst="roundRect">
            <a:avLst/>
          </a:prstGeom>
          <a:solidFill>
            <a:srgbClr val="142037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94959" y="203911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DBEB4"/>
                </a:solidFill>
                <a:latin typeface="Aptos"/>
              </a:rPr>
              <a:t>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59" y="2514600"/>
            <a:ext cx="1554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KPIs + student table</a:t>
            </a:r>
            <a:br/>
            <a:r>
              <a:rPr sz="1400" b="0">
                <a:solidFill>
                  <a:srgbClr val="F5F8FC"/>
                </a:solidFill>
                <a:latin typeface="Aptos"/>
              </a:rPr>
              <a:t>+ filters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59" y="132588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BE4B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59" y="26974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DBEB4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1874519"/>
            <a:ext cx="2011680" cy="2514600"/>
          </a:xfrm>
          <a:prstGeom prst="roundRect">
            <a:avLst/>
          </a:prstGeom>
          <a:solidFill>
            <a:srgbClr val="142037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26679" y="203911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BE4B"/>
                </a:solidFill>
                <a:latin typeface="Aptos"/>
              </a:rPr>
              <a:t>VISUALIZE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2514600"/>
            <a:ext cx="1554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D3.js interactive</a:t>
            </a:r>
            <a:br/>
            <a:r>
              <a:rPr sz="1400" b="0">
                <a:solidFill>
                  <a:srgbClr val="F5F8FC"/>
                </a:solidFill>
                <a:latin typeface="Aptos"/>
              </a:rPr>
              <a:t>SVG charts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132588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BE4B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26974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DBEB4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29800" y="1874519"/>
            <a:ext cx="2011680" cy="2514600"/>
          </a:xfrm>
          <a:prstGeom prst="roundRect">
            <a:avLst/>
          </a:prstGeom>
          <a:solidFill>
            <a:srgbClr val="142037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58400" y="203911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DBEB4"/>
                </a:solidFill>
                <a:latin typeface="Aptos"/>
              </a:rPr>
              <a:t>MARKSHEET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2514600"/>
            <a:ext cx="1554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UGC progress card</a:t>
            </a:r>
            <a:br/>
            <a:r>
              <a:rPr sz="1400" b="0">
                <a:solidFill>
                  <a:srgbClr val="F5F8FC"/>
                </a:solidFill>
                <a:latin typeface="Aptos"/>
              </a:rPr>
              <a:t>A4 print / PDF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132588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BE4B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516636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DBEB4"/>
                </a:solidFill>
                <a:latin typeface="Aptos"/>
              </a:rPr>
              <a:t>HTML5 + CSS3 + Vanilla JavaScript + D3.js + LocalStorage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7. Technology Stack &amp; Project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FBED2"/>
                </a:solidFill>
                <a:latin typeface="Aptos"/>
              </a:rPr>
              <a:t>Implementation technologies from the guide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212080" cy="4480560"/>
          </a:xfrm>
          <a:prstGeom prst="roundRect">
            <a:avLst/>
          </a:prstGeom>
          <a:solidFill>
            <a:srgbClr val="142037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8191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DBEB4"/>
                </a:solidFill>
                <a:latin typeface="Aptos"/>
              </a:rPr>
              <a:t>FRONTEND &amp; VISUALIZATION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7548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F5F8FC"/>
                </a:solidFill>
                <a:latin typeface="Aptos"/>
              </a:rPr>
              <a:t>HTML5 — semantic structure and tables</a:t>
            </a:r>
            <a:br>
              <a:rPr dirty="0"/>
            </a:br>
            <a:r>
              <a:rPr sz="1400" b="0" dirty="0">
                <a:solidFill>
                  <a:srgbClr val="F5F8FC"/>
                </a:solidFill>
                <a:latin typeface="Aptos"/>
              </a:rPr>
              <a:t>CSS3 — </a:t>
            </a:r>
            <a:r>
              <a:rPr sz="1400" b="0" dirty="0" err="1">
                <a:solidFill>
                  <a:srgbClr val="F5F8FC"/>
                </a:solidFill>
                <a:latin typeface="Aptos"/>
              </a:rPr>
              <a:t>Glassmorphism</a:t>
            </a:r>
            <a:r>
              <a:rPr sz="1400" b="0" dirty="0">
                <a:solidFill>
                  <a:srgbClr val="F5F8FC"/>
                </a:solidFill>
                <a:latin typeface="Aptos"/>
              </a:rPr>
              <a:t>, animations &amp; print styling</a:t>
            </a:r>
            <a:br>
              <a:rPr dirty="0"/>
            </a:br>
            <a:r>
              <a:rPr sz="1400" b="0" dirty="0">
                <a:solidFill>
                  <a:srgbClr val="F5F8FC"/>
                </a:solidFill>
                <a:latin typeface="Aptos"/>
              </a:rPr>
              <a:t>JavaScript ES6+ — logic, CRUD, sorting and calculations</a:t>
            </a:r>
            <a:br>
              <a:rPr dirty="0"/>
            </a:br>
            <a:r>
              <a:rPr sz="1400" b="0" dirty="0">
                <a:solidFill>
                  <a:srgbClr val="F5F8FC"/>
                </a:solidFill>
                <a:latin typeface="Aptos"/>
              </a:rPr>
              <a:t>D3.js v7 — SVG charts and interactions</a:t>
            </a:r>
            <a:br>
              <a:rPr dirty="0"/>
            </a:br>
            <a:r>
              <a:rPr sz="1400" b="0" dirty="0">
                <a:solidFill>
                  <a:srgbClr val="F5F8FC"/>
                </a:solidFill>
                <a:latin typeface="Aptos"/>
              </a:rPr>
              <a:t>Web Storage — persistent loc</a:t>
            </a:r>
            <a:r>
              <a:rPr lang="en-IN" sz="1400" b="0" dirty="0">
                <a:solidFill>
                  <a:srgbClr val="F5F8FC"/>
                </a:solidFill>
                <a:latin typeface="Aptos"/>
              </a:rPr>
              <a:t>al data</a:t>
            </a:r>
            <a:endParaRPr sz="1400" b="0" dirty="0">
              <a:solidFill>
                <a:srgbClr val="F5F8FC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172200" y="1417320"/>
            <a:ext cx="5212080" cy="4480560"/>
          </a:xfrm>
          <a:prstGeom prst="roundRect">
            <a:avLst/>
          </a:prstGeom>
          <a:solidFill>
            <a:srgbClr val="142037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58191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BE4B"/>
                </a:solidFill>
                <a:latin typeface="Aptos"/>
              </a:rPr>
              <a:t>APPLICATION LAYERS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47548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data.js — cohort data &amp; storage</a:t>
            </a:r>
            <a:br/>
            <a:r>
              <a:rPr sz="1400" b="0">
                <a:solidFill>
                  <a:srgbClr val="F5F8FC"/>
                </a:solidFill>
                <a:latin typeface="Aptos"/>
              </a:rPr>
              <a:t> auth.js — role-based access</a:t>
            </a:r>
            <a:br/>
            <a:r>
              <a:rPr sz="1400" b="0">
                <a:solidFill>
                  <a:srgbClr val="F5F8FC"/>
                </a:solidFill>
                <a:latin typeface="Aptos"/>
              </a:rPr>
              <a:t> marksheet.js — UGC GPA &amp; progress card</a:t>
            </a:r>
            <a:br/>
            <a:r>
              <a:rPr sz="1400" b="0">
                <a:solidFill>
                  <a:srgbClr val="F5F8FC"/>
                </a:solidFill>
                <a:latin typeface="Aptos"/>
              </a:rPr>
              <a:t> ui.js — table, search, sorting &amp; KPI math</a:t>
            </a:r>
            <a:br/>
            <a:r>
              <a:rPr sz="1400" b="0">
                <a:solidFill>
                  <a:srgbClr val="F5F8FC"/>
                </a:solidFill>
                <a:latin typeface="Aptos"/>
              </a:rPr>
              <a:t> charts.js — 4 D3 visualizations</a:t>
            </a:r>
            <a:br/>
            <a:r>
              <a:rPr sz="1400" b="0">
                <a:solidFill>
                  <a:srgbClr val="F5F8FC"/>
                </a:solidFill>
                <a:latin typeface="Aptos"/>
              </a:rPr>
              <a:t> app.js — application orchestration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8. Demonstration &amp; Expected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FBED2"/>
                </a:solidFill>
                <a:latin typeface="Aptos"/>
              </a:rPr>
              <a:t>What can be shown during the project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• Open index.html directly in a browser — no installation or server is required.</a:t>
            </a:r>
          </a:p>
          <a:p>
            <a:pPr>
              <a:spcAft>
                <a:spcPts val="13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• Demonstrate Faculty login and the cohort dashboard.</a:t>
            </a:r>
          </a:p>
          <a:p>
            <a:pPr>
              <a:spcAft>
                <a:spcPts val="13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• Show KPI metrics, searchable/sortable student records and interactive D3.js charts.</a:t>
            </a:r>
          </a:p>
          <a:p>
            <a:pPr>
              <a:spcAft>
                <a:spcPts val="13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• Switch to Student mode and show the personalized scorecard, radar chart and attendance gauge.</a:t>
            </a:r>
          </a:p>
          <a:p>
            <a:pPr>
              <a:spcAft>
                <a:spcPts val="13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• Open a student marksheet and demonstrate A4 print/PDF export.</a:t>
            </a:r>
          </a:p>
          <a:p>
            <a:pPr>
              <a:spcAft>
                <a:spcPts val="13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• Use Reset Cohort to restore the original default dataset when required.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FBED2"/>
                </a:solidFill>
                <a:latin typeface="Aptos"/>
              </a:rPr>
              <a:t>Demo credentials are documented in the project guide.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9. Conclusion &amp; Future Direction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FBED2"/>
                </a:solidFill>
                <a:latin typeface="Aptos"/>
              </a:rPr>
              <a:t>A unified academic analytics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257800" cy="4343400"/>
          </a:xfrm>
          <a:prstGeom prst="roundRect">
            <a:avLst/>
          </a:prstGeom>
          <a:solidFill>
            <a:srgbClr val="142037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81912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DBEB4"/>
                </a:solidFill>
                <a:latin typeface="Aptos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800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The project transforms academic marks from static records into an interactive analytics experience.</a:t>
            </a:r>
            <a:br/>
            <a:br/>
            <a:r>
              <a:rPr sz="1400" b="0">
                <a:solidFill>
                  <a:srgbClr val="F5F8FC"/>
                </a:solidFill>
                <a:latin typeface="Aptos"/>
              </a:rPr>
              <a:t>It combines role-based access, D3.js visualizations, automated UGC grading, SGPA calculation and digital marksheet generation in one portal.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257800" cy="4343400"/>
          </a:xfrm>
          <a:prstGeom prst="roundRect">
            <a:avLst/>
          </a:prstGeom>
          <a:solidFill>
            <a:srgbClr val="142037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581912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BE4B"/>
                </a:solidFill>
                <a:latin typeface="Aptos"/>
              </a:rPr>
              <a:t>FUTURE DIRECTION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57400"/>
            <a:ext cx="4800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The current guide documents analytics and academic support capabilities. Future enhancements can build on this foundation with richer historical trend analysis, additional datasets, stronger persistence and more advanced predictive indicators.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963102"/>
            <a:ext cx="106984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dirty="0">
                <a:solidFill>
                  <a:srgbClr val="F5F8FC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60672"/>
            <a:ext cx="10332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solidFill>
                  <a:srgbClr val="2DBEB4"/>
                </a:solidFill>
                <a:latin typeface="Aptos"/>
              </a:rPr>
              <a:t>STUDENT ANALYTICS &amp; PERFORMANCE DASHBOARD</a:t>
            </a:r>
            <a:endParaRPr sz="2000" b="1" dirty="0">
              <a:solidFill>
                <a:srgbClr val="2DBEB4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3527108"/>
            <a:ext cx="103327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dirty="0">
                <a:solidFill>
                  <a:srgbClr val="2DBEB4"/>
                </a:solidFill>
                <a:latin typeface="Aptos"/>
              </a:rPr>
              <a:t>HTML5  |  CSS3  |  JavaScript  |  D3.js  |  </a:t>
            </a:r>
            <a:r>
              <a:rPr lang="en-US" sz="1300" b="1" dirty="0">
                <a:solidFill>
                  <a:srgbClr val="2DBEB4"/>
                </a:solidFill>
                <a:latin typeface="Aptos"/>
              </a:rPr>
              <a:t>D</a:t>
            </a:r>
            <a:r>
              <a:rPr lang="en-IN" sz="1300" b="1" dirty="0" err="1">
                <a:solidFill>
                  <a:srgbClr val="2DBEB4"/>
                </a:solidFill>
                <a:latin typeface="Aptos"/>
              </a:rPr>
              <a:t>ataBase</a:t>
            </a:r>
            <a:r>
              <a:rPr sz="1300" b="1" dirty="0">
                <a:solidFill>
                  <a:srgbClr val="2DBEB4"/>
                </a:solidFill>
                <a:latin typeface="Aptos"/>
              </a:rPr>
              <a:t>Storage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BD8374-4015-4D17-BE54-676124367FC3}"/>
              </a:ext>
            </a:extLst>
          </p:cNvPr>
          <p:cNvSpPr/>
          <p:nvPr/>
        </p:nvSpPr>
        <p:spPr>
          <a:xfrm>
            <a:off x="1616862" y="3065443"/>
            <a:ext cx="8958276" cy="461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Solution: </a:t>
            </a:r>
            <a:r>
              <a:rPr lang="en-US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EduPulse</a:t>
            </a:r>
            <a:r>
              <a:rPr lang="en-US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- Intelligent Campus Analytics &amp; Marksheet Portal</a:t>
            </a:r>
            <a:endParaRPr lang="en-US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975</Words>
  <Application>Microsoft Office PowerPoint</Application>
  <PresentationFormat>Widescreen</PresentationFormat>
  <Paragraphs>146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Hasini</dc:creator>
  <cp:keywords/>
  <dc:description>generated using python-pptx</dc:description>
  <cp:lastModifiedBy>VEERAMREDDY UDAYKUMARREDDY</cp:lastModifiedBy>
  <cp:revision>7</cp:revision>
  <dcterms:created xsi:type="dcterms:W3CDTF">2013-01-27T09:14:16Z</dcterms:created>
  <dcterms:modified xsi:type="dcterms:W3CDTF">2026-09-30T06:32:52Z</dcterms:modified>
  <cp:category/>
</cp:coreProperties>
</file>