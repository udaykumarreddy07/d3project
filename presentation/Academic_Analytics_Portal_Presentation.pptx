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Marks (%)</c:v>
                </c:pt>
              </c:strCache>
            </c:strRef>
          </c:tx>
          <c:spPr>
            <a:solidFill>
              <a:srgbClr val="4F46E5">
                <a:alpha val="9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CSE</c:v>
                  </c:pt>
                  <c:pt idx="1">
                    <c:v>ECE</c:v>
                  </c:pt>
                  <c:pt idx="2">
                    <c:v>EEE</c:v>
                  </c:pt>
                  <c:pt idx="3">
                    <c:v>MECH</c:v>
                  </c:pt>
                  <c:pt idx="4">
                    <c:v>CIVIL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90.2</c:v>
                </c:pt>
                <c:pt idx="1">
                  <c:v>85.8</c:v>
                </c:pt>
                <c:pt idx="2">
                  <c:v>79.4</c:v>
                </c:pt>
                <c:pt idx="3">
                  <c:v>69.8</c:v>
                </c:pt>
                <c:pt idx="4">
                  <c:v>73.2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 Rate (%)</c:v>
                </c:pt>
              </c:strCache>
            </c:strRef>
          </c:tx>
          <c:spPr>
            <a:solidFill>
              <a:srgbClr val="0EA5E9">
                <a:alpha val="9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CSE</c:v>
                  </c:pt>
                  <c:pt idx="1">
                    <c:v>ECE</c:v>
                  </c:pt>
                  <c:pt idx="2">
                    <c:v>EEE</c:v>
                  </c:pt>
                  <c:pt idx="3">
                    <c:v>MECH</c:v>
                  </c:pt>
                  <c:pt idx="4">
                    <c:v>CIVIL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80</c:v>
                </c:pt>
                <c:pt idx="4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93B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CBD5E1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394960"/>
          </a:xfrm>
          <a:prstGeom prst="roundRect">
            <a:avLst>
              <a:gd name="adj" fmla="val 3390"/>
            </a:avLst>
          </a:prstGeom>
          <a:solidFill>
            <a:srgbClr val="131D31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88720" y="1188720"/>
            <a:ext cx="3474720" cy="365760"/>
          </a:xfrm>
          <a:prstGeom prst="roundRect">
            <a:avLst>
              <a:gd name="adj" fmla="val 25000"/>
            </a:avLst>
          </a:prstGeom>
          <a:solidFill>
            <a:srgbClr val="1E1B4B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188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 BHARATH INSTITUTE (AUTONOMOUS)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&amp;</a:t>
            </a:r>
            <a:endParaRPr lang="en-US" sz="3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Marksheet Portal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18872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Web Architecture • D3.js Visualizations • UGC 10-Point Scale Grading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37490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production-grade, highly organized multi-tier academic evaluation platform featuring institutional analytics, dual-role RBAC (Faculty &amp; Student), real-time cohort simulators, and high-fidelity printable marksheet generation.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88720" y="48463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312E8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Modular Folders (css/ js/ data/)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0" y="48463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07598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AE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Live D3.js Charts &amp; Bar Graphs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48463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581C8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D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UGC 10-Point CGPA Calculator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595360" y="48463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064E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Dual-Role Session RBAC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 &amp; Key Objectives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691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 1. Modular Architecture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4663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Refactored single-file monolithic codebase into dedicated language subfolders (css/, js/, data/) for maximum maintainability, clean separation of concerns, and team scalability.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691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2. Institutional D3.js Analytics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148840"/>
            <a:ext cx="4663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visual cohort analytics with department performance bar charts, pass/fail donuts, subject correlation scatter plots, and student radar gauges.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749040"/>
            <a:ext cx="521208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3. UGC 10-Point Marksheet Engine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4434840"/>
            <a:ext cx="4663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evaluation according to standard Indian UGC / Autonomous University guidelines: Letter Grade (O to F), Grade Points (10 to 0), SGPA/CGPA, and pass criteria.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749040"/>
            <a:ext cx="52120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4. Dual-Role RBAC &amp; Security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4434840"/>
            <a:ext cx="4663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separating Faculty Administration (full CRUD, live simulator, CSV export) and Student Self-Service (personalized scorecard &amp; marksheets).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Layered System Architecture &amp; Directory Tree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20640" cy="4663440"/>
          </a:xfrm>
          <a:prstGeom prst="roundRect">
            <a:avLst>
              <a:gd name="adj" fmla="val 2941"/>
            </a:avLst>
          </a:prstGeom>
          <a:solidFill>
            <a:srgbClr val="0C1322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Project Directory Organization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01168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D3project/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index.html          (Main HTML Entry Point)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README.md           (Documentation Guide)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build.js            (Build &amp; Sync Engine)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css/                (🎨 Stylesheets Layer)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styles.css      (Global tokens &amp; UI)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auth.css        (Login Gateway &amp; Aurora)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dashboard.css   (KPIs &amp; Data Table)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charts.css      (D3 SVG Styling)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marksheet.css   (Progress Card &amp; Print)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js/                 (⚡ Application Logic Layer)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data.js         (Storage &amp; Cohort Data)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auth.js         (RBAC &amp; Demo Logins)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marksheet.js    (UGC GPA Calculator)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ui.js           (KPIs, Tables &amp; Filters)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charts.js       (D3 Data Visualizers)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app.js          (Bootstrap &amp; Event Hub)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data/               (📊 Data Layer)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students.json   (22-Student JSON Dataset)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1463040"/>
            <a:ext cx="53035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524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Presentation Layer (css/)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9659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CSS architecture organized by component responsibility: global design tokens, aurora auth overlays, responsive data grids, SVG chart styling, and print formatting.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3017520"/>
            <a:ext cx="53035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524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1546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Business Logic Layer (js/)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35204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Zero-framework vanilla ES6+ modules. Separates data stores, authentication flows, academic calculation engines, D3 visual rendering, and UI DOM manipulation.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4572000"/>
            <a:ext cx="53035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Persistent Data Layer (data/)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507492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 JSON cohort data storage coupled with an intelligent multi-tiered storage wrapper (LocalStorage -&gt; SessionStorage -&gt; In-Memory Fallback).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 &amp; Modern Design 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2064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 Core Technology Stack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Vanilla JavaScript (ES6+)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37744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external dependencies for business logic. Pure performance, instant startup, and modular maintenance.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D3.js v7 (Data-Driven Documents)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333756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dynamic SVG data binding, responsive scale linear/band projections, animated transitions, and hover tooltips.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Semantic HTML5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429768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 document structure with modal overlays, SVG graphics, and responsive data containers.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4983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Advanced CSS3 &amp; Glassmorphism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525780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Aurora light animations, backdrop-filter blurs, radial gradients, flex/grid layouts, and dedicated print stylesheet.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463040"/>
            <a:ext cx="530352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Design System Tokens &amp; Typography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21945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F46E5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Indigo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#4F46E5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869680" y="219456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EA5E9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7260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 Blue Secondary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#0EA5E9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28346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8B5CF6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Violet Accent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#8B5CF6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869680" y="28346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7260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 Success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#10B981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0" y="347472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59E0B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3429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Warning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#F59E0B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869680" y="347472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90D16"/>
          </a:solidFill>
          <a:ln w="10160">
            <a:solidFill>
              <a:srgbClr val="F8FA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2600" y="3429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Obsidian Dark Base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#090D16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0" y="4389120"/>
            <a:ext cx="47548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4572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🔤 Google Fonts Typography Hierarchy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0" y="49377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Headings &amp; Numbers: Outfit &amp; Space Grotesk (High legibility)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Body &amp; Data Tables: Plus Jakarta Sans (Clean modern sans-serif)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Institutional Seals &amp; Certificates: Cinzel (Classical serif)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ANALYTICS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Performance Comparison &amp; D3 Pipeline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of 10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463040"/>
          <a:ext cx="6217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223760" y="1463040"/>
            <a:ext cx="4206240" cy="4572000"/>
          </a:xfrm>
          <a:prstGeom prst="roundRect">
            <a:avLst>
              <a:gd name="adj" fmla="val 32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691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D3.js Bar Chart Pipeline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Data Aggregation (`d3.rollup`)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377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Rolls up raw student arrays by department into mean subject scores and pass percentage tallies.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498080" y="3063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Band &amp; Linear Scaling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2918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`d3.scaleBand()` partitions X-axis categories with padding; `d3.scaleLinear()` maps domain [0, 100] to SVG pixel heights.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39776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SVG Gradient Injection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42062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Dynamically attaches linear gradients (`#barGradCSE`, `#barGradECE`) for sleek illuminated bar visuals.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4892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Dynamic Transitions &amp; Tooltips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51206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animate from height 0 using `.transition().duration(800)`; floating mouse tooltips reveal precise department metrics.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ACCESS CONTROL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Dual-Role Authentication Gateway &amp; RBAC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21208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524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Role-Based Access Control (RBAC)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2103120"/>
            <a:ext cx="4663440" cy="1737360"/>
          </a:xfrm>
          <a:prstGeom prst="roundRect">
            <a:avLst>
              <a:gd name="adj" fmla="val 5263"/>
            </a:avLst>
          </a:prstGeom>
          <a:solidFill>
            <a:srgbClr val="172554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24028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👨‍🏫 FACULTY / ADMIN ROLE (`admin`)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56032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Complete Student Record CRUD (Add, Edit, Delete)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Cohort Performance Simulator &amp; Stress Testing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Batch Official Marksheet Viewer &amp; CSV Report Export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Cohort Analytics across all 5 Engineering Departments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05840" y="4023360"/>
            <a:ext cx="4663440" cy="1737360"/>
          </a:xfrm>
          <a:prstGeom prst="roundRect">
            <a:avLst>
              <a:gd name="adj" fmla="val 5263"/>
            </a:avLst>
          </a:prstGeom>
          <a:solidFill>
            <a:srgbClr val="3B0764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16052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STUDENT ROLE (`sneha`, `arun`)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448056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Personalized Academic Welcome Banner &amp; Subject Breakdown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Immediate UGC Progress Card &amp; Official Marksheet Generation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Individual Subject Radar &amp; Attendance Gauge Visualizations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Restricted Access: Hidden Faculty Management &amp; CRUD Controls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521208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Security &amp; Session Layer (`auth.js`)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210312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Aurora Wave Overlay (`auth.css`)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233172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Full-screen luminous animated background, glowing particles, grid sweep animations, and password reveal toggle.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9224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Three-Tier Storage Persistence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29184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`safeSetItem()` / `safeGetItem()` engine seamlessly cascades from LocalStorage (Remember Me) -&gt; SessionStorage -&gt; In-Memory Fallback.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92240" y="40233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Demo Accounts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0" y="425196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Pre-seeded fast-login tokens for instant evaluator testing without manual password typing.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92240" y="498348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Header Role Switcher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21208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live role switching mechanism allowing administrators to preview the exact UI as seen by any student.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GRADING &amp; EVALUATION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 10-Point Academic Grading &amp; Marksheet Engine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of 10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217920" cy="438912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73152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Score Range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Grade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Points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Academic Status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90 - 100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O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Outstanding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(First Class Dist.)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80 - 89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A+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Excellent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(First Class)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70 - 79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A5E9"/>
                          </a:solidFill>
                        </a:rPr>
                        <a:t>A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Very Good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(First Class)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60 - 69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A5E9"/>
                          </a:solidFill>
                        </a:rPr>
                        <a:t>B+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Good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(Second Class)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50 - 59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</a:rPr>
                        <a:t>B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Above Average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(Second Class)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40 - 49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</a:rPr>
                        <a:t>C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Average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(Pass Division)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35 - 39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AB308"/>
                          </a:solidFill>
                        </a:rPr>
                        <a:t>P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 Threshold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Passed (Pass Division)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0 - 34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</a:rPr>
                        <a:t>F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FAFC"/>
                          </a:solidFill>
                        </a:rPr>
                        <a:t>Fail / Re-appear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</a:rPr>
                        <a:t>FAILED (Backlog)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223760" y="146304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691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 Official Marksheet Modal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Autonomous College Header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3317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seal, serial numbers, examination month/year, and student demographic details.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498080" y="3017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Subject-Wise Breakdown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2461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Maths, Science, English, Programming with Max Marks (100), Min Pass Marks (35), Obtained Marks, and UGC Letter Grades.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3931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Formula: CGPA &amp; SGPA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41605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Calculates overall grade point average using UGC formula: SGPA = Σ(Credits × Grade Points) / Total Credits.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High-Fidelity `@media print`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50749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print layout stripping navigation bars, applying A4 dimensions, high-contrast borders, and signatures area.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VISUALIZATIONS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D3.js Visualization Suite (charts.js)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645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Department Average Bar Chart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9659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Bar / Column Chart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2240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Visualizes mean aggregate scores across all 5 engineering streams with animated bar rise, color coding, and department comparison benchmarks.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645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Pass vs Fail Cohort Donut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19659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Donut Arc Chart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92240" y="2240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percentage breakdown of qualifying students vs backlogs with hover slice expansion, tooltip percentages, and center ratio readout.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749040"/>
            <a:ext cx="5212080" cy="731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931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Subject Correlation Scatter Plot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42519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Scatter / Bubble Plot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5840" y="4526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Plots Mathematics vs Programming scores to reveal multi-disciplinary aptitude correlations with department-colored student nodes.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17920" y="3749040"/>
            <a:ext cx="521208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3749040"/>
            <a:ext cx="521208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931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Student Radar &amp; Gauge Dial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2240" y="42519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Radar / Radial Gauge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4-axis subject proficiency polygon and semi-circular attendance needle gauge for individual student evaluation.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UI Controllers, Filters &amp; Live Simulation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10725912" cy="100584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0020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31D31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6916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28800" y="16002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Dynamic KPI Summary Cards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28800" y="18745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calculation and display of Total Active Students, Class Aggregate Average, Overall Pass Percentage, and Highest Cohort Scorer with animated counters.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2606040"/>
            <a:ext cx="10725912" cy="100584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74320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31D31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8346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27432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Multi-Parameter Filter &amp; Search Pipeline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28800" y="30175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multi-criteria filtering by Department (CSE/ECE/EEE/MECH/CIVIL), Gender, Pass/Fail Status, Grade (O to F), combined with instant substring student search.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10725912" cy="100584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88620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31D31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9776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828800" y="38862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Multi-Column Sortable Student Table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828800" y="41605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Clickable table headers enabling ascending/descending sorting by ID, Name, Department, Individual Subjects, Total, Average, Attendance, and Letter Grade.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4892040"/>
            <a:ext cx="10725912" cy="100584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502920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31D31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1206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828800" y="50292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Live Push Simulator &amp; CSV Data Export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828800" y="53035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Simulates live IoT/exam score pushes with instant chart re-renders; includes an automated client-side RFC 4180 compliant CSV export generator.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Conclusion &amp; Future Roadmap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591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Analytics Portal | Bharath Institute (Autonomous)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of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21208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Key Technical Accomplishments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1945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Modular Language Subfolder Structure (css/, js/, data/)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7889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Interactive D3.js Data-Driven Visualizations &amp; Bar Graphs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3383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Official UGC 10-Point Grading Scale &amp; Progress Marksheet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Robust Role-Based Access Control (Faculty vs Student)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45720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Zero-Dependency Fast Vanilla ES6+ Engine with 100% Reliability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5166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Full Responsiveness &amp; High-Fidelity Print Layout Support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5212080" cy="466344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 w="1524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Future Enhancements Roadmap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219456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Relational Database Backend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75120" y="24231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PostgreSQL / Cloud Firestore via Firebase Data Connect for institutional scale.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315468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Multi-Semester Cumulative CGPA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grading engine across all 8 semesters to compute Cumulative GPA and transcript generation.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4114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Automated PDF Report Dispatch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digital signature stamping and automated parent/student email notification triggers.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92240" y="507492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AI Academic Risk Predictor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75120" y="530352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regression model predicting potential student backlogs early in the semester.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10</Slides>
	<Notes>10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10</vt:i4></vt:variant>
		</vt:vector>
	</HeadingPairs>
	<TitlesOfParts>
		<vt:vector size="13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
		</vt:vector>
	</TitlesOfParts>
	<Company>Bharath Institute of Engineering & Technology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Analytics &amp; Student Marksheet Portal - Project Presentation</dc:title>
  <dc:subject>Modular Web Architecture, D3.js Visualizations &amp; UGC 10-Point Marksheet Engine</dc:subject>
  <dc:creator>Antigravity AI / BIET Academic Portal</dc:creator>
  <cp:lastModifiedBy>Antigravity AI / BIET Academic Portal</cp:lastModifiedBy>
  <cp:revision>1</cp:revision>
  <dcterms:created xsi:type="dcterms:W3CDTF">2026-09-07T05:47:06Z</dcterms:created>
  <dcterms:modified xsi:type="dcterms:W3CDTF">2026-09-07T05:47:06Z</dcterms:modified>
</cp:coreProperties>
</file>